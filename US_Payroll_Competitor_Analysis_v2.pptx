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27"/>
    <p:sldId id="258" r:id="rId28"/>
    <p:sldId id="259" r:id="rId29"/>
    <p:sldId id="260" r:id="rId9"/>
    <p:sldId id="261" r:id="rId8"/>
    <p:sldId id="262" r:id="rId7"/>
    <p:sldId id="263" r:id="rId6"/>
    <p:sldId id="264" r:id="rId5"/>
    <p:sldId id="265" r:id="rId4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SemiBold" panose="00000700000000000000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X7CI3BwjjVsiQpzcLjMpYAGOq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149DE6-C030-4DDD-9233-CCA621DD846E}" v="6" dt="2024-06-25T10:33:26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9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font" Target="fonts/font13.fntdata"/><Relationship Id="rId24" Type="http://schemas.openxmlformats.org/officeDocument/2006/relationships/font" Target="fonts/font14.fntdata"/><Relationship Id="rId25" Type="http://schemas.openxmlformats.org/officeDocument/2006/relationships/font" Target="fonts/font15.fntdata"/><Relationship Id="rId26" Type="http://schemas.openxmlformats.org/officeDocument/2006/relationships/font" Target="fonts/font16.fntdata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customschemas.google.com/relationships/presentationmetadata" Target="meta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un Rai" userId="309f5f1c-c011-4bd4-a864-237142246ca1" providerId="ADAL" clId="{91149DE6-C030-4DDD-9233-CCA621DD846E}"/>
    <pc:docChg chg="undo redo custSel addSld modSld">
      <pc:chgData name="Tarun Rai" userId="309f5f1c-c011-4bd4-a864-237142246ca1" providerId="ADAL" clId="{91149DE6-C030-4DDD-9233-CCA621DD846E}" dt="2024-06-25T10:33:53.874" v="110" actId="20577"/>
      <pc:docMkLst>
        <pc:docMk/>
      </pc:docMkLst>
      <pc:sldChg chg="addSp delSp modSp mod">
        <pc:chgData name="Tarun Rai" userId="309f5f1c-c011-4bd4-a864-237142246ca1" providerId="ADAL" clId="{91149DE6-C030-4DDD-9233-CCA621DD846E}" dt="2024-06-25T10:30:29.572" v="27" actId="22"/>
        <pc:sldMkLst>
          <pc:docMk/>
          <pc:sldMk cId="0" sldId="257"/>
        </pc:sldMkLst>
        <pc:spChg chg="del">
          <ac:chgData name="Tarun Rai" userId="309f5f1c-c011-4bd4-a864-237142246ca1" providerId="ADAL" clId="{91149DE6-C030-4DDD-9233-CCA621DD846E}" dt="2024-06-25T10:27:47.985" v="6" actId="21"/>
          <ac:spMkLst>
            <pc:docMk/>
            <pc:sldMk cId="0" sldId="257"/>
            <ac:spMk id="2" creationId="{6EA16358-BBAD-87E5-33CE-ACE12EA3052A}"/>
          </ac:spMkLst>
        </pc:spChg>
        <pc:spChg chg="del">
          <ac:chgData name="Tarun Rai" userId="309f5f1c-c011-4bd4-a864-237142246ca1" providerId="ADAL" clId="{91149DE6-C030-4DDD-9233-CCA621DD846E}" dt="2024-06-25T10:27:42.109" v="4" actId="21"/>
          <ac:spMkLst>
            <pc:docMk/>
            <pc:sldMk cId="0" sldId="257"/>
            <ac:spMk id="3" creationId="{A245331C-64C1-FFCB-E726-0E6B728C2BA8}"/>
          </ac:spMkLst>
        </pc:spChg>
        <pc:spChg chg="add del mod">
          <ac:chgData name="Tarun Rai" userId="309f5f1c-c011-4bd4-a864-237142246ca1" providerId="ADAL" clId="{91149DE6-C030-4DDD-9233-CCA621DD846E}" dt="2024-06-25T10:28:56.668" v="10"/>
          <ac:spMkLst>
            <pc:docMk/>
            <pc:sldMk cId="0" sldId="257"/>
            <ac:spMk id="4" creationId="{E248AD2D-5FD8-16E2-9F5F-56F8E48376FD}"/>
          </ac:spMkLst>
        </pc:spChg>
        <pc:spChg chg="add del mod">
          <ac:chgData name="Tarun Rai" userId="309f5f1c-c011-4bd4-a864-237142246ca1" providerId="ADAL" clId="{91149DE6-C030-4DDD-9233-CCA621DD846E}" dt="2024-06-25T10:29:15.393" v="13"/>
          <ac:spMkLst>
            <pc:docMk/>
            <pc:sldMk cId="0" sldId="257"/>
            <ac:spMk id="5" creationId="{D9ED9044-3ED2-4C38-BE54-11C4876BD3BD}"/>
          </ac:spMkLst>
        </pc:spChg>
        <pc:spChg chg="add mod">
          <ac:chgData name="Tarun Rai" userId="309f5f1c-c011-4bd4-a864-237142246ca1" providerId="ADAL" clId="{91149DE6-C030-4DDD-9233-CCA621DD846E}" dt="2024-06-25T10:30:22.446" v="25" actId="403"/>
          <ac:spMkLst>
            <pc:docMk/>
            <pc:sldMk cId="0" sldId="257"/>
            <ac:spMk id="6" creationId="{9E9604AF-696F-806F-A188-E8465E987992}"/>
          </ac:spMkLst>
        </pc:spChg>
        <pc:spChg chg="add del">
          <ac:chgData name="Tarun Rai" userId="309f5f1c-c011-4bd4-a864-237142246ca1" providerId="ADAL" clId="{91149DE6-C030-4DDD-9233-CCA621DD846E}" dt="2024-06-25T10:30:29.572" v="27" actId="22"/>
          <ac:spMkLst>
            <pc:docMk/>
            <pc:sldMk cId="0" sldId="257"/>
            <ac:spMk id="8" creationId="{831003C4-1EEF-E9F1-9CCD-2761BA16D4D1}"/>
          </ac:spMkLst>
        </pc:spChg>
        <pc:spChg chg="del mod">
          <ac:chgData name="Tarun Rai" userId="309f5f1c-c011-4bd4-a864-237142246ca1" providerId="ADAL" clId="{91149DE6-C030-4DDD-9233-CCA621DD846E}" dt="2024-06-25T10:27:38.626" v="3"/>
          <ac:spMkLst>
            <pc:docMk/>
            <pc:sldMk cId="0" sldId="257"/>
            <ac:spMk id="127" creationId="{00000000-0000-0000-0000-000000000000}"/>
          </ac:spMkLst>
        </pc:spChg>
        <pc:spChg chg="del">
          <ac:chgData name="Tarun Rai" userId="309f5f1c-c011-4bd4-a864-237142246ca1" providerId="ADAL" clId="{91149DE6-C030-4DDD-9233-CCA621DD846E}" dt="2024-06-25T10:27:45.261" v="5" actId="21"/>
          <ac:spMkLst>
            <pc:docMk/>
            <pc:sldMk cId="0" sldId="257"/>
            <ac:spMk id="129" creationId="{00000000-0000-0000-0000-000000000000}"/>
          </ac:spMkLst>
        </pc:spChg>
        <pc:spChg chg="del">
          <ac:chgData name="Tarun Rai" userId="309f5f1c-c011-4bd4-a864-237142246ca1" providerId="ADAL" clId="{91149DE6-C030-4DDD-9233-CCA621DD846E}" dt="2024-06-25T10:27:38.613" v="1" actId="21"/>
          <ac:spMkLst>
            <pc:docMk/>
            <pc:sldMk cId="0" sldId="257"/>
            <ac:spMk id="134" creationId="{00000000-0000-0000-0000-000000000000}"/>
          </ac:spMkLst>
        </pc:spChg>
      </pc:sldChg>
      <pc:sldChg chg="addSp delSp modSp add mod chgLayout">
        <pc:chgData name="Tarun Rai" userId="309f5f1c-c011-4bd4-a864-237142246ca1" providerId="ADAL" clId="{91149DE6-C030-4DDD-9233-CCA621DD846E}" dt="2024-06-25T10:32:10.021" v="44" actId="20577"/>
        <pc:sldMkLst>
          <pc:docMk/>
          <pc:sldMk cId="1211413293" sldId="259"/>
        </pc:sldMkLst>
        <pc:spChg chg="add del mod ord">
          <ac:chgData name="Tarun Rai" userId="309f5f1c-c011-4bd4-a864-237142246ca1" providerId="ADAL" clId="{91149DE6-C030-4DDD-9233-CCA621DD846E}" dt="2024-06-25T10:30:40.537" v="31" actId="6264"/>
          <ac:spMkLst>
            <pc:docMk/>
            <pc:sldMk cId="1211413293" sldId="259"/>
            <ac:spMk id="2" creationId="{715444D8-AF42-6850-765D-78873BAFB535}"/>
          </ac:spMkLst>
        </pc:spChg>
        <pc:spChg chg="add del mod ord">
          <ac:chgData name="Tarun Rai" userId="309f5f1c-c011-4bd4-a864-237142246ca1" providerId="ADAL" clId="{91149DE6-C030-4DDD-9233-CCA621DD846E}" dt="2024-06-25T10:30:40.537" v="31" actId="6264"/>
          <ac:spMkLst>
            <pc:docMk/>
            <pc:sldMk cId="1211413293" sldId="259"/>
            <ac:spMk id="3" creationId="{9460F55D-AB04-AC74-6B1B-7A2737D6736D}"/>
          </ac:spMkLst>
        </pc:spChg>
        <pc:spChg chg="mod">
          <ac:chgData name="Tarun Rai" userId="309f5f1c-c011-4bd4-a864-237142246ca1" providerId="ADAL" clId="{91149DE6-C030-4DDD-9233-CCA621DD846E}" dt="2024-06-25T10:32:10.021" v="44" actId="20577"/>
          <ac:spMkLst>
            <pc:docMk/>
            <pc:sldMk cId="1211413293" sldId="259"/>
            <ac:spMk id="6" creationId="{9E9604AF-696F-806F-A188-E8465E987992}"/>
          </ac:spMkLst>
        </pc:spChg>
      </pc:sldChg>
      <pc:sldChg chg="modSp add mod">
        <pc:chgData name="Tarun Rai" userId="309f5f1c-c011-4bd4-a864-237142246ca1" providerId="ADAL" clId="{91149DE6-C030-4DDD-9233-CCA621DD846E}" dt="2024-06-25T10:32:41.099" v="54" actId="1076"/>
        <pc:sldMkLst>
          <pc:docMk/>
          <pc:sldMk cId="152311177" sldId="260"/>
        </pc:sldMkLst>
        <pc:spChg chg="mod">
          <ac:chgData name="Tarun Rai" userId="309f5f1c-c011-4bd4-a864-237142246ca1" providerId="ADAL" clId="{91149DE6-C030-4DDD-9233-CCA621DD846E}" dt="2024-06-25T10:32:41.099" v="54" actId="1076"/>
          <ac:spMkLst>
            <pc:docMk/>
            <pc:sldMk cId="152311177" sldId="260"/>
            <ac:spMk id="6" creationId="{9E9604AF-696F-806F-A188-E8465E987992}"/>
          </ac:spMkLst>
        </pc:spChg>
      </pc:sldChg>
      <pc:sldChg chg="modSp add mod setBg">
        <pc:chgData name="Tarun Rai" userId="309f5f1c-c011-4bd4-a864-237142246ca1" providerId="ADAL" clId="{91149DE6-C030-4DDD-9233-CCA621DD846E}" dt="2024-06-25T10:33:01.963" v="73" actId="20577"/>
        <pc:sldMkLst>
          <pc:docMk/>
          <pc:sldMk cId="1645425374" sldId="261"/>
        </pc:sldMkLst>
        <pc:spChg chg="mod">
          <ac:chgData name="Tarun Rai" userId="309f5f1c-c011-4bd4-a864-237142246ca1" providerId="ADAL" clId="{91149DE6-C030-4DDD-9233-CCA621DD846E}" dt="2024-06-25T10:33:01.963" v="73" actId="20577"/>
          <ac:spMkLst>
            <pc:docMk/>
            <pc:sldMk cId="1645425374" sldId="261"/>
            <ac:spMk id="6" creationId="{9E9604AF-696F-806F-A188-E8465E987992}"/>
          </ac:spMkLst>
        </pc:spChg>
      </pc:sldChg>
      <pc:sldChg chg="modSp add mod">
        <pc:chgData name="Tarun Rai" userId="309f5f1c-c011-4bd4-a864-237142246ca1" providerId="ADAL" clId="{91149DE6-C030-4DDD-9233-CCA621DD846E}" dt="2024-06-25T10:33:53.874" v="110" actId="20577"/>
        <pc:sldMkLst>
          <pc:docMk/>
          <pc:sldMk cId="2606330014" sldId="262"/>
        </pc:sldMkLst>
        <pc:spChg chg="mod">
          <ac:chgData name="Tarun Rai" userId="309f5f1c-c011-4bd4-a864-237142246ca1" providerId="ADAL" clId="{91149DE6-C030-4DDD-9233-CCA621DD846E}" dt="2024-06-25T10:33:53.874" v="110" actId="20577"/>
          <ac:spMkLst>
            <pc:docMk/>
            <pc:sldMk cId="2606330014" sldId="262"/>
            <ac:spMk id="6" creationId="{9E9604AF-696F-806F-A188-E8465E987992}"/>
          </ac:spMkLst>
        </pc:spChg>
      </pc:sldChg>
      <pc:sldChg chg="modSp add mod">
        <pc:chgData name="Tarun Rai" userId="309f5f1c-c011-4bd4-a864-237142246ca1" providerId="ADAL" clId="{91149DE6-C030-4DDD-9233-CCA621DD846E}" dt="2024-06-25T10:33:48.960" v="102" actId="20577"/>
        <pc:sldMkLst>
          <pc:docMk/>
          <pc:sldMk cId="2972342764" sldId="263"/>
        </pc:sldMkLst>
        <pc:spChg chg="mod">
          <ac:chgData name="Tarun Rai" userId="309f5f1c-c011-4bd4-a864-237142246ca1" providerId="ADAL" clId="{91149DE6-C030-4DDD-9233-CCA621DD846E}" dt="2024-06-25T10:33:48.960" v="102" actId="20577"/>
          <ac:spMkLst>
            <pc:docMk/>
            <pc:sldMk cId="2972342764" sldId="263"/>
            <ac:spMk id="6" creationId="{9E9604AF-696F-806F-A188-E8465E987992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Slide">
  <p:cSld name="2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body" idx="1"/>
          </p:nvPr>
        </p:nvSpPr>
        <p:spPr>
          <a:xfrm>
            <a:off x="6096000" y="3200400"/>
            <a:ext cx="6096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1019175" y="1314450"/>
            <a:ext cx="44386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2"/>
          </p:nvPr>
        </p:nvSpPr>
        <p:spPr>
          <a:xfrm>
            <a:off x="1323975" y="1114425"/>
            <a:ext cx="413385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1D6DA"/>
              </a:buClr>
              <a:buSzPts val="1400"/>
              <a:buNone/>
              <a:defRPr sz="1400">
                <a:solidFill>
                  <a:srgbClr val="D1D6DA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7FC"/>
            </a:gs>
            <a:gs pos="80000">
              <a:srgbClr val="FFFFFF">
                <a:alpha val="30980"/>
              </a:srgbClr>
            </a:gs>
            <a:gs pos="99000">
              <a:srgbClr val="67BAF5">
                <a:alpha val="7843"/>
              </a:srgbClr>
            </a:gs>
            <a:gs pos="100000">
              <a:srgbClr val="67BAF5">
                <a:alpha val="7843"/>
              </a:srgb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10753726" y="1"/>
            <a:ext cx="1438276" cy="1438276"/>
          </a:xfrm>
          <a:custGeom>
            <a:avLst/>
            <a:gdLst/>
            <a:ahLst/>
            <a:cxnLst/>
            <a:rect l="l" t="t" r="r" b="b"/>
            <a:pathLst>
              <a:path w="1000125" h="1000125" extrusionOk="0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cubicBezTo>
                  <a:pt x="447771" y="1000125"/>
                  <a:pt x="0" y="552354"/>
                  <a:pt x="0" y="0"/>
                </a:cubicBezTo>
                <a:close/>
              </a:path>
            </a:pathLst>
          </a:custGeom>
          <a:solidFill>
            <a:srgbClr val="008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0507989" y="-158254"/>
            <a:ext cx="566736" cy="566736"/>
          </a:xfrm>
          <a:prstGeom prst="ellipse">
            <a:avLst/>
          </a:prstGeom>
          <a:solidFill>
            <a:srgbClr val="00CD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0" y="5664735"/>
            <a:ext cx="1627447" cy="1204914"/>
            <a:chOff x="9396636" y="5946720"/>
            <a:chExt cx="1627447" cy="1204914"/>
          </a:xfrm>
        </p:grpSpPr>
        <p:sp>
          <p:nvSpPr>
            <p:cNvPr id="96" name="Google Shape;96;p1"/>
            <p:cNvSpPr/>
            <p:nvPr/>
          </p:nvSpPr>
          <p:spPr>
            <a:xfrm>
              <a:off x="9396636" y="6166834"/>
              <a:ext cx="1205954" cy="971549"/>
            </a:xfrm>
            <a:prstGeom prst="rect">
              <a:avLst/>
            </a:prstGeom>
            <a:solidFill>
              <a:srgbClr val="0085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588313" y="5946720"/>
              <a:ext cx="435770" cy="1204914"/>
            </a:xfrm>
            <a:prstGeom prst="rect">
              <a:avLst/>
            </a:prstGeom>
            <a:solidFill>
              <a:srgbClr val="00CD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8" name="Google Shape;98;p1"/>
          <p:cNvSpPr txBox="1">
            <a:spLocks noGrp="1"/>
          </p:cNvSpPr>
          <p:nvPr>
            <p:ph type="body" idx="1"/>
          </p:nvPr>
        </p:nvSpPr>
        <p:spPr>
          <a:xfrm>
            <a:off x="6844486" y="2127229"/>
            <a:ext cx="4887504" cy="46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192E"/>
              </a:buClr>
              <a:buSzPts val="1600"/>
              <a:buNone/>
            </a:pPr>
            <a:r>
              <a:rPr lang="en-IN" sz="1800" b="1" i="0">
                <a:solidFill>
                  <a:srgbClr val="03192E"/>
                </a:solidFill>
                <a:latin typeface="Poppins"/>
                <a:ea typeface="Poppins"/>
                <a:cs typeface="Poppins"/>
                <a:sym typeface="Poppins"/>
              </a:rPr>
              <a:t>US Payroll - Competitor Analysis 2026</a:t>
            </a:r>
            <a:endParaRPr b="0">
              <a:solidFill>
                <a:srgbClr val="03192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7779" y="957057"/>
            <a:ext cx="4387972" cy="1254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6563923" y="2566635"/>
            <a:ext cx="2016390" cy="317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96C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64696C"/>
                </a:solidFill>
                <a:latin typeface="Poppins"/>
                <a:ea typeface="Poppins"/>
                <a:cs typeface="Poppins"/>
                <a:sym typeface="Poppins"/>
              </a:rPr>
              <a:t>www.zimyo.com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1"/>
          <p:cNvGrpSpPr/>
          <p:nvPr/>
        </p:nvGrpSpPr>
        <p:grpSpPr>
          <a:xfrm>
            <a:off x="3670823" y="2933491"/>
            <a:ext cx="8402837" cy="3771572"/>
            <a:chOff x="3949790" y="1127844"/>
            <a:chExt cx="7843001" cy="3295463"/>
          </a:xfrm>
        </p:grpSpPr>
        <p:pic>
          <p:nvPicPr>
            <p:cNvPr id="102" name="Google Shape;102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49790" y="1127844"/>
              <a:ext cx="7843001" cy="3295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"/>
            <p:cNvSpPr/>
            <p:nvPr/>
          </p:nvSpPr>
          <p:spPr>
            <a:xfrm>
              <a:off x="9344975" y="1722500"/>
              <a:ext cx="568099" cy="27699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BFBFBF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9365295" y="1752707"/>
              <a:ext cx="59328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1" i="0" u="none" strike="noStrike" cap="none">
                  <a:solidFill>
                    <a:srgbClr val="0B2E4D"/>
                  </a:solidFill>
                  <a:latin typeface="Poppins"/>
                  <a:ea typeface="Poppins"/>
                  <a:cs typeface="Poppins"/>
                  <a:sym typeface="Poppins"/>
                </a:rPr>
                <a:t>India</a:t>
              </a:r>
              <a:endParaRPr sz="1200" b="1">
                <a:solidFill>
                  <a:srgbClr val="0B2E4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9907320" y="2135335"/>
              <a:ext cx="946321" cy="27699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BFBFBF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9932947" y="2152817"/>
              <a:ext cx="946321" cy="242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1">
                  <a:solidFill>
                    <a:srgbClr val="0B2E4D"/>
                  </a:solidFill>
                  <a:latin typeface="Poppins"/>
                  <a:ea typeface="Poppins"/>
                  <a:cs typeface="Poppins"/>
                  <a:sym typeface="Poppins"/>
                </a:rPr>
                <a:t>Singapore</a:t>
              </a:r>
              <a:endParaRPr sz="1200" b="1">
                <a:solidFill>
                  <a:srgbClr val="0B2E4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8596552" y="1703883"/>
              <a:ext cx="654346" cy="27699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BFBFBF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8678304" y="1726751"/>
              <a:ext cx="49084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1">
                  <a:solidFill>
                    <a:srgbClr val="0B2E4D"/>
                  </a:solidFill>
                  <a:latin typeface="Poppins"/>
                  <a:ea typeface="Poppins"/>
                  <a:cs typeface="Poppins"/>
                  <a:sym typeface="Poppins"/>
                </a:rPr>
                <a:t>UAE</a:t>
              </a:r>
              <a:endParaRPr sz="1200" b="1">
                <a:solidFill>
                  <a:srgbClr val="0B2E4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5165587" y="1479970"/>
              <a:ext cx="514652" cy="27699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BFBFBF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"/>
            <p:cNvSpPr txBox="1"/>
            <p:nvPr/>
          </p:nvSpPr>
          <p:spPr>
            <a:xfrm>
              <a:off x="5165586" y="1510549"/>
              <a:ext cx="50206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1">
                  <a:solidFill>
                    <a:srgbClr val="0B2E4D"/>
                  </a:solidFill>
                  <a:latin typeface="Poppins"/>
                  <a:ea typeface="Poppins"/>
                  <a:cs typeface="Poppins"/>
                  <a:sym typeface="Poppins"/>
                </a:rPr>
                <a:t>USA</a:t>
              </a:r>
              <a:endParaRPr sz="1200" b="1">
                <a:solidFill>
                  <a:srgbClr val="0B2E4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1" name="Google Shape;111;p1"/>
          <p:cNvGrpSpPr/>
          <p:nvPr/>
        </p:nvGrpSpPr>
        <p:grpSpPr>
          <a:xfrm>
            <a:off x="-13534" y="0"/>
            <a:ext cx="3563359" cy="3909068"/>
            <a:chOff x="-2" y="-1"/>
            <a:chExt cx="4546123" cy="4987177"/>
          </a:xfrm>
        </p:grpSpPr>
        <p:sp>
          <p:nvSpPr>
            <p:cNvPr id="112" name="Google Shape;112;p1"/>
            <p:cNvSpPr/>
            <p:nvPr/>
          </p:nvSpPr>
          <p:spPr>
            <a:xfrm>
              <a:off x="1634244" y="1584537"/>
              <a:ext cx="2701758" cy="2701758"/>
            </a:xfrm>
            <a:prstGeom prst="ellipse">
              <a:avLst/>
            </a:prstGeom>
            <a:solidFill>
              <a:srgbClr val="D1D6DA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0" y="0"/>
              <a:ext cx="3317947" cy="3317947"/>
            </a:xfrm>
            <a:prstGeom prst="rect">
              <a:avLst/>
            </a:prstGeom>
            <a:solidFill>
              <a:srgbClr val="0085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1100127" y="3742538"/>
              <a:ext cx="752885" cy="752885"/>
            </a:xfrm>
            <a:prstGeom prst="ellipse">
              <a:avLst/>
            </a:prstGeom>
            <a:solidFill>
              <a:srgbClr val="FAC8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 rot="10800000">
              <a:off x="3927093" y="1864703"/>
              <a:ext cx="399830" cy="399830"/>
            </a:xfrm>
            <a:custGeom>
              <a:avLst/>
              <a:gdLst/>
              <a:ahLst/>
              <a:cxnLst/>
              <a:rect l="l" t="t" r="r" b="b"/>
              <a:pathLst>
                <a:path w="1000125" h="1000125" extrusionOk="0">
                  <a:moveTo>
                    <a:pt x="0" y="0"/>
                  </a:moveTo>
                  <a:lnTo>
                    <a:pt x="1000125" y="0"/>
                  </a:lnTo>
                  <a:lnTo>
                    <a:pt x="1000125" y="1000125"/>
                  </a:lnTo>
                  <a:cubicBezTo>
                    <a:pt x="447771" y="1000125"/>
                    <a:pt x="0" y="552354"/>
                    <a:pt x="0" y="0"/>
                  </a:cubicBezTo>
                  <a:close/>
                </a:path>
              </a:pathLst>
            </a:custGeom>
            <a:solidFill>
              <a:srgbClr val="00CD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437722" y="3478948"/>
              <a:ext cx="1108399" cy="1108399"/>
            </a:xfrm>
            <a:prstGeom prst="rect">
              <a:avLst/>
            </a:prstGeom>
            <a:solidFill>
              <a:srgbClr val="0085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 rot="-5400000">
              <a:off x="3592091" y="4387431"/>
              <a:ext cx="399830" cy="399830"/>
            </a:xfrm>
            <a:custGeom>
              <a:avLst/>
              <a:gdLst/>
              <a:ahLst/>
              <a:cxnLst/>
              <a:rect l="l" t="t" r="r" b="b"/>
              <a:pathLst>
                <a:path w="1000125" h="1000125" extrusionOk="0">
                  <a:moveTo>
                    <a:pt x="0" y="0"/>
                  </a:moveTo>
                  <a:lnTo>
                    <a:pt x="1000125" y="0"/>
                  </a:lnTo>
                  <a:lnTo>
                    <a:pt x="1000125" y="1000125"/>
                  </a:lnTo>
                  <a:cubicBezTo>
                    <a:pt x="447771" y="1000125"/>
                    <a:pt x="0" y="552354"/>
                    <a:pt x="0" y="0"/>
                  </a:cubicBezTo>
                  <a:close/>
                </a:path>
              </a:pathLst>
            </a:custGeom>
            <a:solidFill>
              <a:srgbClr val="FAC8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037892" y="4587346"/>
              <a:ext cx="399830" cy="399830"/>
            </a:xfrm>
            <a:prstGeom prst="rect">
              <a:avLst/>
            </a:prstGeom>
            <a:solidFill>
              <a:srgbClr val="00CD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 rot="10800000">
              <a:off x="-2" y="1856676"/>
              <a:ext cx="1461270" cy="1461270"/>
            </a:xfrm>
            <a:custGeom>
              <a:avLst/>
              <a:gdLst/>
              <a:ahLst/>
              <a:cxnLst/>
              <a:rect l="l" t="t" r="r" b="b"/>
              <a:pathLst>
                <a:path w="1000125" h="1000125" extrusionOk="0">
                  <a:moveTo>
                    <a:pt x="0" y="0"/>
                  </a:moveTo>
                  <a:lnTo>
                    <a:pt x="1000125" y="0"/>
                  </a:lnTo>
                  <a:lnTo>
                    <a:pt x="1000125" y="1000125"/>
                  </a:lnTo>
                  <a:cubicBezTo>
                    <a:pt x="447771" y="1000125"/>
                    <a:pt x="0" y="552354"/>
                    <a:pt x="0" y="0"/>
                  </a:cubicBezTo>
                  <a:close/>
                </a:path>
              </a:pathLst>
            </a:custGeom>
            <a:solidFill>
              <a:srgbClr val="181A1B">
                <a:alpha val="941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0" y="2414735"/>
              <a:ext cx="852122" cy="1704246"/>
            </a:xfrm>
            <a:custGeom>
              <a:avLst/>
              <a:gdLst/>
              <a:ahLst/>
              <a:cxnLst/>
              <a:rect l="l" t="t" r="r" b="b"/>
              <a:pathLst>
                <a:path w="927121" h="1854244" extrusionOk="0">
                  <a:moveTo>
                    <a:pt x="0" y="0"/>
                  </a:moveTo>
                  <a:lnTo>
                    <a:pt x="94792" y="4787"/>
                  </a:lnTo>
                  <a:cubicBezTo>
                    <a:pt x="562299" y="52265"/>
                    <a:pt x="927121" y="447089"/>
                    <a:pt x="927121" y="927122"/>
                  </a:cubicBezTo>
                  <a:cubicBezTo>
                    <a:pt x="927121" y="1407155"/>
                    <a:pt x="562299" y="1801980"/>
                    <a:pt x="94792" y="1849458"/>
                  </a:cubicBezTo>
                  <a:lnTo>
                    <a:pt x="0" y="1854244"/>
                  </a:lnTo>
                  <a:close/>
                </a:path>
              </a:pathLst>
            </a:custGeom>
            <a:solidFill>
              <a:srgbClr val="00CD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37128" y="-1"/>
              <a:ext cx="713490" cy="1864704"/>
            </a:xfrm>
            <a:prstGeom prst="rect">
              <a:avLst/>
            </a:prstGeom>
            <a:solidFill>
              <a:srgbClr val="FAC8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/>
          </a:blip>
          <a:srcRect l="-4904" t="-13282" r="66648" b="-17482"/>
          <a:stretch/>
        </p:blipFill>
        <p:spPr>
          <a:xfrm>
            <a:off x="353633" y="313838"/>
            <a:ext cx="435287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10782301" y="1"/>
            <a:ext cx="1438276" cy="1438276"/>
          </a:xfrm>
          <a:custGeom>
            <a:avLst/>
            <a:gdLst/>
            <a:ahLst/>
            <a:cxnLst/>
            <a:rect l="l" t="t" r="r" b="b"/>
            <a:pathLst>
              <a:path w="1000125" h="1000125" extrusionOk="0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cubicBezTo>
                  <a:pt x="447771" y="1000125"/>
                  <a:pt x="0" y="552354"/>
                  <a:pt x="0" y="0"/>
                </a:cubicBezTo>
                <a:close/>
              </a:path>
            </a:pathLst>
          </a:custGeom>
          <a:solidFill>
            <a:srgbClr val="0085F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-334736" y="6093351"/>
            <a:ext cx="1099352" cy="1099352"/>
          </a:xfrm>
          <a:prstGeom prst="ellipse">
            <a:avLst/>
          </a:prstGeom>
          <a:solidFill>
            <a:srgbClr val="0085FF">
              <a:alpha val="1176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1648515" y="1716832"/>
            <a:ext cx="242610" cy="242610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242847" y="6398121"/>
            <a:ext cx="172068" cy="172068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05840" y="274320"/>
            <a:ext cx="9601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3192E"/>
                </a:solidFill>
                <a:latin typeface="Calibri"/>
              </a:rPr>
              <a:t>US Startup Payroll Market - 2026 Overview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5840" y="658368"/>
            <a:ext cx="9601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4696C"/>
                </a:solidFill>
                <a:latin typeface="Calibri"/>
              </a:rPr>
              <a:t>Who is winning in US payroll and what does this mean for us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05840" y="914400"/>
            <a:ext cx="9601200" cy="228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0080" y="10972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3192E"/>
                </a:solidFill>
                <a:latin typeface="Calibri"/>
              </a:rPr>
              <a:t>What the Market Looks Like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0080" y="1371600"/>
            <a:ext cx="5029200" cy="1691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Rippling and Gusto together own 57% of the startup payroll market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Central (by Mercury) and Warp are new entrants - 32% share in 2-3 years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Mercury bundled free payroll with its banking product - fastest growth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Warp offers completely free payroll funded through interest on deposits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Justworks uses PEO (co-employment) model - declining among startups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All top players are based in US, focused on US-first compliance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329184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3192E"/>
                </a:solidFill>
                <a:latin typeface="Calibri"/>
              </a:rPr>
              <a:t>What This Means for Zimyo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0080" y="3566160"/>
            <a:ext cx="5029200" cy="1691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US payroll market is ~$28B and growing 8% yearly in SMB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Nobody is serving Indian companies with US subsidiaries well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Multi-country payroll (India + US) is a gap we can fill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There is room for a new player with competitive pricing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Our existing HRMS gives us a platform advantage to bundle payroll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35040" y="1097280"/>
            <a:ext cx="5394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3192E"/>
                </a:solidFill>
                <a:latin typeface="Calibri"/>
              </a:rPr>
              <a:t>Market Share by Provider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035040" y="1417319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3A45"/>
                </a:solidFill>
                <a:latin typeface="Calibri"/>
              </a:rPr>
              <a:t>Rippling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178040" y="1435607"/>
            <a:ext cx="2743200" cy="118872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7178040" y="1435607"/>
            <a:ext cx="795528" cy="118872"/>
          </a:xfrm>
          <a:prstGeom prst="roundRect">
            <a:avLst>
              <a:gd name="adj" fmla="val 6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994392" y="1417319"/>
            <a:ext cx="411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C5CE7"/>
                </a:solidFill>
                <a:latin typeface="Calibri"/>
              </a:rPr>
              <a:t>29%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035040" y="1673351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3A45"/>
                </a:solidFill>
                <a:latin typeface="Calibri"/>
              </a:rPr>
              <a:t>Gusto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178040" y="1691639"/>
            <a:ext cx="2743200" cy="118872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7178040" y="1691639"/>
            <a:ext cx="768096" cy="118872"/>
          </a:xfrm>
          <a:prstGeom prst="roundRect">
            <a:avLst>
              <a:gd name="adj" fmla="val 6000"/>
            </a:avLst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994392" y="1673351"/>
            <a:ext cx="411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0B894"/>
                </a:solidFill>
                <a:latin typeface="Calibri"/>
              </a:rPr>
              <a:t>28%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035040" y="1929384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3A45"/>
                </a:solidFill>
                <a:latin typeface="Calibri"/>
              </a:rPr>
              <a:t>Central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178040" y="1947672"/>
            <a:ext cx="2743200" cy="118872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7178040" y="1947672"/>
            <a:ext cx="576072" cy="118872"/>
          </a:xfrm>
          <a:prstGeom prst="roundRect">
            <a:avLst>
              <a:gd name="adj" fmla="val 6000"/>
            </a:avLst>
          </a:prstGeom>
          <a:solidFill>
            <a:srgbClr val="008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994392" y="1929384"/>
            <a:ext cx="411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084D6"/>
                </a:solidFill>
                <a:latin typeface="Calibri"/>
              </a:rPr>
              <a:t>21%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035040" y="2185415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3A45"/>
                </a:solidFill>
                <a:latin typeface="Calibri"/>
              </a:rPr>
              <a:t>Warp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178040" y="2203703"/>
            <a:ext cx="2743200" cy="118872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7178040" y="2203703"/>
            <a:ext cx="301752" cy="118872"/>
          </a:xfrm>
          <a:prstGeom prst="roundRect">
            <a:avLst>
              <a:gd name="adj" fmla="val 6000"/>
            </a:avLst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994392" y="2185415"/>
            <a:ext cx="411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A502"/>
                </a:solidFill>
                <a:latin typeface="Calibri"/>
              </a:rPr>
              <a:t>11%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035040" y="2441448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3A45"/>
                </a:solidFill>
                <a:latin typeface="Calibri"/>
              </a:rPr>
              <a:t>Deel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178040" y="2459736"/>
            <a:ext cx="2743200" cy="118872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7178040" y="2459736"/>
            <a:ext cx="137160" cy="118872"/>
          </a:xfrm>
          <a:prstGeom prst="roundRect">
            <a:avLst>
              <a:gd name="adj" fmla="val 6000"/>
            </a:avLst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994392" y="2441448"/>
            <a:ext cx="411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D7972"/>
                </a:solidFill>
                <a:latin typeface="Calibri"/>
              </a:rPr>
              <a:t>5%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035040" y="2697480"/>
            <a:ext cx="10972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3A45"/>
                </a:solidFill>
                <a:latin typeface="Calibri"/>
              </a:rPr>
              <a:t>Justworks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7178040" y="2715768"/>
            <a:ext cx="2743200" cy="118872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7178040" y="2715768"/>
            <a:ext cx="82296" cy="118872"/>
          </a:xfrm>
          <a:prstGeom prst="roundRect">
            <a:avLst>
              <a:gd name="adj" fmla="val 6000"/>
            </a:avLst>
          </a:prstGeom>
          <a:solidFill>
            <a:srgbClr val="64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994392" y="2697480"/>
            <a:ext cx="4114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4696C"/>
                </a:solidFill>
                <a:latin typeface="Calibri"/>
              </a:rPr>
              <a:t>3%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035040" y="3182112"/>
            <a:ext cx="5394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3192E"/>
                </a:solidFill>
                <a:latin typeface="Calibri"/>
              </a:rPr>
              <a:t>Key Numbers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035040" y="3474720"/>
            <a:ext cx="2606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053327" y="3547872"/>
            <a:ext cx="45720" cy="420623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81344" y="3529584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$13.5B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181344" y="3822192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Rippling Valuation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823959" y="3474720"/>
            <a:ext cx="2606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842247" y="3547872"/>
            <a:ext cx="45720" cy="420623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970263" y="3529584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300K+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970263" y="3822192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Gusto Customers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035040" y="4133088"/>
            <a:ext cx="2606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053327" y="4206240"/>
            <a:ext cx="45720" cy="420623"/>
          </a:xfrm>
          <a:prstGeom prst="rect">
            <a:avLst/>
          </a:prstGeom>
          <a:solidFill>
            <a:srgbClr val="008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181344" y="4187952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84D6"/>
                </a:solidFill>
                <a:latin typeface="Calibri"/>
              </a:rPr>
              <a:t>200K+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181344" y="4480560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Mercury Accounts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8823959" y="4133088"/>
            <a:ext cx="2606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842247" y="4206240"/>
            <a:ext cx="45720" cy="420623"/>
          </a:xfrm>
          <a:prstGeom prst="rect">
            <a:avLst/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970263" y="4187952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D7972"/>
                </a:solidFill>
                <a:latin typeface="Calibri"/>
              </a:rPr>
              <a:t>$12B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970263" y="4480560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Deel Valuation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6035040" y="4791456"/>
            <a:ext cx="2606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053327" y="4864608"/>
            <a:ext cx="45720" cy="420623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181344" y="4846320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A502"/>
                </a:solidFill>
                <a:latin typeface="Calibri"/>
              </a:rPr>
              <a:t>$0/mo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181344" y="5138928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Warp Free Tier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8823959" y="4791456"/>
            <a:ext cx="26060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842247" y="4864608"/>
            <a:ext cx="45720" cy="420623"/>
          </a:xfrm>
          <a:prstGeom prst="rect">
            <a:avLst/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8970263" y="4846320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D7972"/>
                </a:solidFill>
                <a:latin typeface="Calibri"/>
              </a:rPr>
              <a:t>35K+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970263" y="5138928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Deel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/>
          </a:blip>
          <a:srcRect l="-4904" t="-13282" r="66648" b="-17482"/>
          <a:stretch/>
        </p:blipFill>
        <p:spPr>
          <a:xfrm>
            <a:off x="353633" y="313838"/>
            <a:ext cx="435287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10782301" y="1"/>
            <a:ext cx="1438276" cy="1438276"/>
          </a:xfrm>
          <a:custGeom>
            <a:avLst/>
            <a:gdLst/>
            <a:ahLst/>
            <a:cxnLst/>
            <a:rect l="l" t="t" r="r" b="b"/>
            <a:pathLst>
              <a:path w="1000125" h="1000125" extrusionOk="0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cubicBezTo>
                  <a:pt x="447771" y="1000125"/>
                  <a:pt x="0" y="552354"/>
                  <a:pt x="0" y="0"/>
                </a:cubicBezTo>
                <a:close/>
              </a:path>
            </a:pathLst>
          </a:custGeom>
          <a:solidFill>
            <a:srgbClr val="0085F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-334736" y="6093351"/>
            <a:ext cx="1099352" cy="1099352"/>
          </a:xfrm>
          <a:prstGeom prst="ellipse">
            <a:avLst/>
          </a:prstGeom>
          <a:solidFill>
            <a:srgbClr val="0085FF">
              <a:alpha val="1176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1648515" y="1716832"/>
            <a:ext cx="242610" cy="242610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242847" y="6398121"/>
            <a:ext cx="172068" cy="172068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05840" y="274320"/>
            <a:ext cx="9601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3192E"/>
                </a:solidFill>
                <a:latin typeface="Calibri"/>
              </a:rPr>
              <a:t>Rippling - 29% Market Share (Largest Player)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5840" y="658368"/>
            <a:ext cx="9601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4696C"/>
                </a:solidFill>
                <a:latin typeface="Calibri"/>
              </a:rPr>
              <a:t>Founded 2016  |  Parker Conrad (ex-Zenefits)  |  San Francisco  |  Valued at $13.5B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05840" y="914400"/>
            <a:ext cx="9601200" cy="228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0080" y="10972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6C5CE7"/>
                </a:solidFill>
                <a:latin typeface="Calibri"/>
              </a:rPr>
              <a:t>How They Built Their US Payroll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0080" y="1353312"/>
            <a:ext cx="5029200" cy="1600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Built a single employee database that connects HR, IT and Finance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Payroll engine does automatic tax calculation for all 50 US states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They bought tax filing technology instead of building from scratch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Created a rules engine (RQL) for complex pay rules and deductions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Supports companies with multiple entities and state registrations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Added 600+ integrations with tools like Slack, QuickBooks, Netsuite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318211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6C5CE7"/>
                </a:solidFill>
                <a:latin typeface="Calibri"/>
              </a:rPr>
              <a:t>Their US Payroll Covers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0080" y="3438144"/>
            <a:ext cx="5029200" cy="1508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Federal, state and local tax calculation, filing and payments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Automatic detection when an employee moves to another state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W-2 for employees, 1099 for contractors, new hire reporting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Benefits: health insurance, 401k, HSA, FSA, commuter benefits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Workers compensation and ACA compliance reporting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Global payroll in 50+ countries through EOR and local entities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0080" y="510235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3192E"/>
                </a:solidFill>
                <a:latin typeface="Calibri"/>
              </a:rPr>
              <a:t>Pricing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0080" y="5330952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Starts at $8 per employee per month + platform fee  |  Target: 10 to 2,000 employees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035040" y="1097280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053327" y="1170432"/>
            <a:ext cx="45720" cy="40233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81344" y="1152144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30K+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81344" y="1444752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Companies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823959" y="1097280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842247" y="1170432"/>
            <a:ext cx="45720" cy="40233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970263" y="1152144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$1.4B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970263" y="1444752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Total Funding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035040" y="1737360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53327" y="1810512"/>
            <a:ext cx="45720" cy="402335"/>
          </a:xfrm>
          <a:prstGeom prst="rect">
            <a:avLst/>
          </a:prstGeom>
          <a:solidFill>
            <a:srgbClr val="008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181344" y="1792224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84D6"/>
                </a:solidFill>
                <a:latin typeface="Calibri"/>
              </a:rPr>
              <a:t>600+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181344" y="2084831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Integrations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823959" y="1737360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842247" y="1810512"/>
            <a:ext cx="45720" cy="402335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970263" y="1792224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50+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970263" y="2084831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Countries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035040" y="251460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144768" y="2569464"/>
            <a:ext cx="517550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B894"/>
                </a:solidFill>
                <a:latin typeface="Calibri"/>
              </a:rPr>
              <a:t>What Works for Them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144768" y="2788920"/>
            <a:ext cx="5175504" cy="8869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00B894"/>
                </a:solidFill>
                <a:latin typeface="Calibri"/>
              </a:rPr>
              <a:t>Single platform for HR + IT + Finance saves companies money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00B894"/>
                </a:solidFill>
                <a:latin typeface="Calibri"/>
              </a:rPr>
              <a:t>Their automation engine is the best in the market right now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00B894"/>
                </a:solidFill>
                <a:latin typeface="Calibri"/>
              </a:rPr>
              <a:t>Strong compliance across all US states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00B894"/>
                </a:solidFill>
                <a:latin typeface="Calibri"/>
              </a:rPr>
              <a:t>Very fast at adding new product features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035040" y="388620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44768" y="3941063"/>
            <a:ext cx="517550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D7972"/>
                </a:solidFill>
                <a:latin typeface="Calibri"/>
              </a:rPr>
              <a:t>Where They Are Weak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144768" y="4160520"/>
            <a:ext cx="5175504" cy="8869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FD7972"/>
                </a:solidFill>
                <a:latin typeface="Calibri"/>
              </a:rPr>
              <a:t>Expensive compared to SMB-focused tools like Gusto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FD7972"/>
                </a:solidFill>
                <a:latin typeface="Calibri"/>
              </a:rPr>
              <a:t>Too complex for small teams with less than 20 people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FD7972"/>
                </a:solidFill>
                <a:latin typeface="Calibri"/>
              </a:rPr>
              <a:t>Customer support gets mixed reviews at scale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FD7972"/>
                </a:solidFill>
                <a:latin typeface="Calibri"/>
              </a:rPr>
              <a:t>Aggressive sales approach puts some buyers off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035040" y="530352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144768" y="5358383"/>
            <a:ext cx="5175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3192E"/>
                </a:solidFill>
                <a:latin typeface="Calibri"/>
              </a:rPr>
              <a:t>What We Can Learn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144768" y="5559552"/>
            <a:ext cx="51755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Bundling HR + Payroll on one platform is the winning strategy. Their rules engine approach for compliance is worth studying.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/>
          </a:blip>
          <a:srcRect l="-4904" t="-13282" r="66648" b="-17482"/>
          <a:stretch/>
        </p:blipFill>
        <p:spPr>
          <a:xfrm>
            <a:off x="353633" y="313838"/>
            <a:ext cx="435287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10782301" y="1"/>
            <a:ext cx="1438276" cy="1438276"/>
          </a:xfrm>
          <a:custGeom>
            <a:avLst/>
            <a:gdLst/>
            <a:ahLst/>
            <a:cxnLst/>
            <a:rect l="l" t="t" r="r" b="b"/>
            <a:pathLst>
              <a:path w="1000125" h="1000125" extrusionOk="0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cubicBezTo>
                  <a:pt x="447771" y="1000125"/>
                  <a:pt x="0" y="552354"/>
                  <a:pt x="0" y="0"/>
                </a:cubicBezTo>
                <a:close/>
              </a:path>
            </a:pathLst>
          </a:custGeom>
          <a:solidFill>
            <a:srgbClr val="0085F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-334736" y="6093351"/>
            <a:ext cx="1099352" cy="1099352"/>
          </a:xfrm>
          <a:prstGeom prst="ellipse">
            <a:avLst/>
          </a:prstGeom>
          <a:solidFill>
            <a:srgbClr val="0085FF">
              <a:alpha val="1176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1648515" y="1716832"/>
            <a:ext cx="242610" cy="242610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242847" y="6398121"/>
            <a:ext cx="172068" cy="172068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05840" y="274320"/>
            <a:ext cx="9601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3192E"/>
                </a:solidFill>
                <a:latin typeface="Calibri"/>
              </a:rPr>
              <a:t>Gusto - 28% Market Share (SMB Favourite)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5840" y="658368"/>
            <a:ext cx="9601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4696C"/>
                </a:solidFill>
                <a:latin typeface="Calibri"/>
              </a:rPr>
              <a:t>Founded 2011 (was ZenPayroll)  |  Josh Reeves CEO  |  San Francisco  |  Valued at $9.5B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05840" y="914400"/>
            <a:ext cx="9601200" cy="228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0080" y="10972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B894"/>
                </a:solidFill>
                <a:latin typeface="Calibri"/>
              </a:rPr>
              <a:t>How They Built Their US Payroll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0080" y="1353312"/>
            <a:ext cx="5029200" cy="1600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Started as a payroll-only company (ZenPayroll) and built their tax engine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Registered as tax filing agent in all 50 US states and territories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Built their own benefits brokerage - Gusto is the broker, not a middleman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Acquired Symmetry for their tax calculation technology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Created a channel of 100K+ accounting firms who refer clients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Launched embedded payroll API - other platforms can white-label Gusto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080" y="318211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B894"/>
                </a:solidFill>
                <a:latin typeface="Calibri"/>
              </a:rPr>
              <a:t>Their US Payroll Covers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0080" y="3438144"/>
            <a:ext cx="5029200" cy="1508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Unlimited pay runs in any frequency (weekly, biweekly, monthly)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Auto tax filing for federal, state and local across all states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Next-day and 2-day direct deposit options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Health insurance, 401k, HSA, FSA, workers comp (pay-as-you-go)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Contractor payments with automatic 1099-NEC filing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Hiring flow: offer letters, I-9 verification, W-4, state forms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2D3A45"/>
                </a:solidFill>
                <a:latin typeface="Calibri"/>
              </a:rPr>
              <a:t>Built-in time tracking and PTO management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0080" y="5221224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3192E"/>
                </a:solidFill>
                <a:latin typeface="Calibri"/>
              </a:rPr>
              <a:t>Pricing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0080" y="5449824"/>
            <a:ext cx="5029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Simple: $40/mo + $6/emp  |  Plus: $80/mo + $12/emp  |  Premium: custom  |  Target: 1 to 200 employees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035040" y="1097280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053327" y="1170432"/>
            <a:ext cx="45720" cy="402335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81344" y="1152144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300K+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81344" y="1444752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Companies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823959" y="1097280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842247" y="1170432"/>
            <a:ext cx="45720" cy="402335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970263" y="1152144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6M+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970263" y="1444752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Employees Paid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035040" y="1737360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53327" y="1810512"/>
            <a:ext cx="45720" cy="402335"/>
          </a:xfrm>
          <a:prstGeom prst="rect">
            <a:avLst/>
          </a:prstGeom>
          <a:solidFill>
            <a:srgbClr val="008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181344" y="1792224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84D6"/>
                </a:solidFill>
                <a:latin typeface="Calibri"/>
              </a:rPr>
              <a:t>100K+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181344" y="2084831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Accounting Partners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823959" y="1737360"/>
            <a:ext cx="2606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842247" y="1810512"/>
            <a:ext cx="45720" cy="402335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970263" y="1792224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A502"/>
                </a:solidFill>
                <a:latin typeface="Calibri"/>
              </a:rPr>
              <a:t>$746M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970263" y="2084831"/>
            <a:ext cx="2377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Total Funding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035040" y="251460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144768" y="2569464"/>
            <a:ext cx="517550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B894"/>
                </a:solidFill>
                <a:latin typeface="Calibri"/>
              </a:rPr>
              <a:t>What Works for Them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144768" y="2788920"/>
            <a:ext cx="5175504" cy="8869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00B894"/>
                </a:solidFill>
                <a:latin typeface="Calibri"/>
              </a:rPr>
              <a:t>Simplest payroll product to set up and use in the market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00B894"/>
                </a:solidFill>
                <a:latin typeface="Calibri"/>
              </a:rPr>
              <a:t>Being their own broker gives them better margins on benefits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00B894"/>
                </a:solidFill>
                <a:latin typeface="Calibri"/>
              </a:rPr>
              <a:t>Accountant channel brings them steady customer flow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00B894"/>
                </a:solidFill>
                <a:latin typeface="Calibri"/>
              </a:rPr>
              <a:t>Embedded API lets other SaaS platforms sell Gusto payroll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035040" y="388620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44768" y="3941063"/>
            <a:ext cx="517550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D7972"/>
                </a:solidFill>
                <a:latin typeface="Calibri"/>
              </a:rPr>
              <a:t>Where They Are Weak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144768" y="4160520"/>
            <a:ext cx="5175504" cy="8869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FD7972"/>
                </a:solidFill>
                <a:latin typeface="Calibri"/>
              </a:rPr>
              <a:t>Cannot handle companies above 200-300 employees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FD7972"/>
                </a:solidFill>
                <a:latin typeface="Calibri"/>
              </a:rPr>
              <a:t>No IT or device management like Rippling offers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FD7972"/>
                </a:solidFill>
                <a:latin typeface="Calibri"/>
              </a:rPr>
              <a:t>Very limited international payroll support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FD7972"/>
                </a:solidFill>
                <a:latin typeface="Calibri"/>
              </a:rPr>
              <a:t>Adding new features slower than Rippling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035040" y="530352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144768" y="5358383"/>
            <a:ext cx="51755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3192E"/>
                </a:solidFill>
                <a:latin typeface="Calibri"/>
              </a:rPr>
              <a:t>What We Can Learn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144768" y="5559552"/>
            <a:ext cx="51755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Their accountant channel is gold - we should build similar CA/CPA partnerships. Embedded payroll API is a smart platform 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/>
          </a:blip>
          <a:srcRect l="-4904" t="-13282" r="66648" b="-17482"/>
          <a:stretch/>
        </p:blipFill>
        <p:spPr>
          <a:xfrm>
            <a:off x="353633" y="313838"/>
            <a:ext cx="435287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10782301" y="1"/>
            <a:ext cx="1438276" cy="1438276"/>
          </a:xfrm>
          <a:custGeom>
            <a:avLst/>
            <a:gdLst/>
            <a:ahLst/>
            <a:cxnLst/>
            <a:rect l="l" t="t" r="r" b="b"/>
            <a:pathLst>
              <a:path w="1000125" h="1000125" extrusionOk="0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cubicBezTo>
                  <a:pt x="447771" y="1000125"/>
                  <a:pt x="0" y="552354"/>
                  <a:pt x="0" y="0"/>
                </a:cubicBezTo>
                <a:close/>
              </a:path>
            </a:pathLst>
          </a:custGeom>
          <a:solidFill>
            <a:srgbClr val="0085F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-334736" y="6093351"/>
            <a:ext cx="1099352" cy="1099352"/>
          </a:xfrm>
          <a:prstGeom prst="ellipse">
            <a:avLst/>
          </a:prstGeom>
          <a:solidFill>
            <a:srgbClr val="0085FF">
              <a:alpha val="1176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1648515" y="1716832"/>
            <a:ext cx="242610" cy="242610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242847" y="6398121"/>
            <a:ext cx="172068" cy="172068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05840" y="274320"/>
            <a:ext cx="9601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3192E"/>
                </a:solidFill>
                <a:latin typeface="Calibri"/>
              </a:rPr>
              <a:t>Fast-Growing Challengers: Central (Mercury) &amp; Warp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5840" y="658368"/>
            <a:ext cx="9601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4696C"/>
                </a:solidFill>
                <a:latin typeface="Calibri"/>
              </a:rPr>
              <a:t>Combined 32% market share in just 2-3 years - they changed the game on pricing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05840" y="914400"/>
            <a:ext cx="9601200" cy="228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640080" y="1097280"/>
            <a:ext cx="516636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8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4671" y="1188720"/>
            <a:ext cx="48371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84D6"/>
                </a:solidFill>
                <a:latin typeface="Calibri"/>
              </a:rPr>
              <a:t>Central (Mercury)  |  21% Share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4671" y="1463040"/>
            <a:ext cx="483717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Mercury bank added payroll  |  Immad Akhund CEO  |  $1.6B valuation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04671" y="1737360"/>
            <a:ext cx="4837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84D6"/>
                </a:solidFill>
                <a:latin typeface="Calibri"/>
              </a:rPr>
              <a:t>How They Built It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04671" y="1956816"/>
            <a:ext cx="4837176" cy="1417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Mercury started as a banking platform for startups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Added payroll that runs directly from the Mercury bank account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No fund transfer delay - payroll is funded instantly from the bank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200K+ existing banking customers got payroll for free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Tax engine handles federal + all 50 states filing automatically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Also supports contractor payments (1099) and multi-state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04671" y="3511296"/>
            <a:ext cx="4837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84D6"/>
                </a:solidFill>
                <a:latin typeface="Calibri"/>
              </a:rPr>
              <a:t>Why They Grew So Fast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04671" y="3730752"/>
            <a:ext cx="4837176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Free payroll bundled with banking - no extra cost for customers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200K existing Mercury users = ready-made distribution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Banking + payroll together is hard for others to copy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Startups see real-time cash flow impact of payroll runs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04671" y="4782312"/>
            <a:ext cx="4837176" cy="274320"/>
          </a:xfrm>
          <a:prstGeom prst="roundRect">
            <a:avLst>
              <a:gd name="adj" fmla="val 6000"/>
            </a:avLst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77823" y="4837176"/>
            <a:ext cx="46908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D7972"/>
                </a:solidFill>
                <a:latin typeface="Calibri"/>
              </a:rPr>
              <a:t>Gaps: Only works if you bank with Mercury  |  Limited HR and benefits features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126480" y="1097280"/>
            <a:ext cx="516636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291072" y="1188720"/>
            <a:ext cx="48371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A502"/>
                </a:solidFill>
                <a:latin typeface="Calibri"/>
              </a:rPr>
              <a:t>Warp  |  11% Share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91072" y="1463040"/>
            <a:ext cx="483717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Free payroll for startups  |  YC and a16z backed  |  ~$28M funding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291072" y="1737360"/>
            <a:ext cx="4837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A502"/>
                </a:solidFill>
                <a:latin typeface="Calibri"/>
              </a:rPr>
              <a:t>How They Built It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291072" y="1956816"/>
            <a:ext cx="4837176" cy="1417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Payroll is completely free - they make money from interest on deposits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Customer funds sit in high-yield accounts, Warp keeps the interest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Same model as Robinhood - float-funded revenue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Full tax filing: federal, state, local calculations and payments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Direct deposit, W-2 and 1099 generation, new hire reporting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Multi-state compliance is fully automated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91072" y="3511296"/>
            <a:ext cx="4837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A502"/>
                </a:solidFill>
                <a:latin typeface="Calibri"/>
              </a:rPr>
              <a:t>Why They Grew So Fast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91072" y="3730752"/>
            <a:ext cx="4837176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$0 per month payroll - hard to compete with free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YC network gave them access to thousands of startups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Very simple product - onboarding takes under 10 minutes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Built specifically for early-stage startup needs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291072" y="4782312"/>
            <a:ext cx="4837176" cy="274320"/>
          </a:xfrm>
          <a:prstGeom prst="roundRect">
            <a:avLst>
              <a:gd name="adj" fmla="val 6000"/>
            </a:avLst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64224" y="4837176"/>
            <a:ext cx="46908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D7972"/>
                </a:solidFill>
                <a:latin typeface="Calibri"/>
              </a:rPr>
              <a:t>Gaps: US only  |  No HR features beyond payroll  |  Small team, limited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/>
          </a:blip>
          <a:srcRect l="-4904" t="-13282" r="66648" b="-17482"/>
          <a:stretch/>
        </p:blipFill>
        <p:spPr>
          <a:xfrm>
            <a:off x="353633" y="313838"/>
            <a:ext cx="435287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10782301" y="1"/>
            <a:ext cx="1438276" cy="1438276"/>
          </a:xfrm>
          <a:custGeom>
            <a:avLst/>
            <a:gdLst/>
            <a:ahLst/>
            <a:cxnLst/>
            <a:rect l="l" t="t" r="r" b="b"/>
            <a:pathLst>
              <a:path w="1000125" h="1000125" extrusionOk="0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cubicBezTo>
                  <a:pt x="447771" y="1000125"/>
                  <a:pt x="0" y="552354"/>
                  <a:pt x="0" y="0"/>
                </a:cubicBezTo>
                <a:close/>
              </a:path>
            </a:pathLst>
          </a:custGeom>
          <a:solidFill>
            <a:srgbClr val="0085F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-334736" y="6093351"/>
            <a:ext cx="1099352" cy="1099352"/>
          </a:xfrm>
          <a:prstGeom prst="ellipse">
            <a:avLst/>
          </a:prstGeom>
          <a:solidFill>
            <a:srgbClr val="0085FF">
              <a:alpha val="1176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1648515" y="1716832"/>
            <a:ext cx="242610" cy="242610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242847" y="6398121"/>
            <a:ext cx="172068" cy="172068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05840" y="274320"/>
            <a:ext cx="9601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3192E"/>
                </a:solidFill>
                <a:latin typeface="Calibri"/>
              </a:rPr>
              <a:t>Niche Players: Deel &amp; Justworks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5840" y="658368"/>
            <a:ext cx="9601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4696C"/>
                </a:solidFill>
                <a:latin typeface="Calibri"/>
              </a:rPr>
              <a:t>Deel is global-first (150+ countries)  |  Justworks uses PEO co-employment model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05840" y="914400"/>
            <a:ext cx="9601200" cy="228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640080" y="1097280"/>
            <a:ext cx="516636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D7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4671" y="1188720"/>
            <a:ext cx="48371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D7972"/>
                </a:solidFill>
                <a:latin typeface="Calibri"/>
              </a:rPr>
              <a:t>Deel  |  5% Share  (Global-First)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4671" y="1463040"/>
            <a:ext cx="483717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Alex Bouaziz CEO  |  $12B val  |  $680M funding  |  35K+ customers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04671" y="1737360"/>
            <a:ext cx="4837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D7972"/>
                </a:solidFill>
                <a:latin typeface="Calibri"/>
              </a:rPr>
              <a:t>How They Built US Payroll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04671" y="1956816"/>
            <a:ext cx="4837176" cy="1417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Started with global EOR (employer of record) in 150+ countries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Added US domestic payroll in 2023 as an expansion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Owns 80+ legal entities worldwide for compliance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Bought PayGroup to strengthen APAC payroll infrastructure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US tax engine covers federal, state and local filing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Launched free HRIS (Deel HR) to compete on platform depth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04671" y="3511296"/>
            <a:ext cx="4837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D7972"/>
                </a:solidFill>
                <a:latin typeface="Calibri"/>
              </a:rPr>
              <a:t>What Makes Them Different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04671" y="3730752"/>
            <a:ext cx="4837176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Only player offering global + US payroll in one platform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EOR model lets companies hire anywhere without local entities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Immigration and visa support built into the platform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Pricing: US $49/emp/mo  |  EOR $500+/emp/mo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04671" y="4782312"/>
            <a:ext cx="4837176" cy="274320"/>
          </a:xfrm>
          <a:prstGeom prst="roundRect">
            <a:avLst>
              <a:gd name="adj" fmla="val 6000"/>
            </a:avLst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77823" y="4837176"/>
            <a:ext cx="46908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D7972"/>
                </a:solidFill>
                <a:latin typeface="Calibri"/>
              </a:rPr>
              <a:t>Gaps: US payroll is new, not their main strength  |  Expensive  |  Complex UI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126480" y="1097280"/>
            <a:ext cx="516636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46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291072" y="1188720"/>
            <a:ext cx="48371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556575"/>
                </a:solidFill>
                <a:latin typeface="Calibri"/>
              </a:rPr>
              <a:t>Justworks  |  3% Share  (PEO)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91072" y="1463040"/>
            <a:ext cx="4837176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Isaac Oates CEO  |  NYC  |  $164M funding  |  10K+ companies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291072" y="1737360"/>
            <a:ext cx="4837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556575"/>
                </a:solidFill>
                <a:latin typeface="Calibri"/>
              </a:rPr>
              <a:t>How They Built US Payroll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291072" y="1956816"/>
            <a:ext cx="4837176" cy="1417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PEO model: Justworks becomes the co-employer of your staff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This gives small companies access to large-group benefit rates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Fortune 500 level health, dental, vision, 401k at group pricing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Full payroll and tax filing is built into the PEO service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Workers compensation and ACA compliance included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12+ years in market - very mature and tested product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91072" y="3511296"/>
            <a:ext cx="4837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556575"/>
                </a:solidFill>
                <a:latin typeface="Calibri"/>
              </a:rPr>
              <a:t>What Makes Them Different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91072" y="3730752"/>
            <a:ext cx="4837176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PEO gives small companies enterprise-grade benefits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Flat pricing: Basic $59/emp  |  Plus $99/emp with benefits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Very transparent pricing with no hidden fees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Strong compliance and HR support included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291072" y="4782312"/>
            <a:ext cx="4837176" cy="274320"/>
          </a:xfrm>
          <a:prstGeom prst="roundRect">
            <a:avLst>
              <a:gd name="adj" fmla="val 6000"/>
            </a:avLst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64224" y="4837176"/>
            <a:ext cx="4690872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D7972"/>
                </a:solidFill>
                <a:latin typeface="Calibri"/>
              </a:rPr>
              <a:t>Gaps: PEO means less control for employer  |  3% shows declining model  |  No global payroll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/>
          </a:blip>
          <a:srcRect l="-4904" t="-13282" r="66648" b="-17482"/>
          <a:stretch/>
        </p:blipFill>
        <p:spPr>
          <a:xfrm>
            <a:off x="353633" y="313838"/>
            <a:ext cx="435287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10782301" y="1"/>
            <a:ext cx="1438276" cy="1438276"/>
          </a:xfrm>
          <a:custGeom>
            <a:avLst/>
            <a:gdLst/>
            <a:ahLst/>
            <a:cxnLst/>
            <a:rect l="l" t="t" r="r" b="b"/>
            <a:pathLst>
              <a:path w="1000125" h="1000125" extrusionOk="0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cubicBezTo>
                  <a:pt x="447771" y="1000125"/>
                  <a:pt x="0" y="552354"/>
                  <a:pt x="0" y="0"/>
                </a:cubicBezTo>
                <a:close/>
              </a:path>
            </a:pathLst>
          </a:custGeom>
          <a:solidFill>
            <a:srgbClr val="0085F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-334736" y="6093351"/>
            <a:ext cx="1099352" cy="1099352"/>
          </a:xfrm>
          <a:prstGeom prst="ellipse">
            <a:avLst/>
          </a:prstGeom>
          <a:solidFill>
            <a:srgbClr val="0085FF">
              <a:alpha val="1176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1648515" y="1716832"/>
            <a:ext cx="242610" cy="242610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242847" y="6398121"/>
            <a:ext cx="172068" cy="172068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05840" y="274320"/>
            <a:ext cx="9601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3192E"/>
                </a:solidFill>
                <a:latin typeface="Calibri"/>
              </a:rPr>
              <a:t>Head-to-Head Feature Comparison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5840" y="658368"/>
            <a:ext cx="9601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4696C"/>
                </a:solidFill>
                <a:latin typeface="Calibri"/>
              </a:rPr>
              <a:t>How each provider stacks up on core US payroll capabilities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05840" y="914400"/>
            <a:ext cx="9601200" cy="228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640080" y="1097280"/>
          <a:ext cx="1089964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527048"/>
                <a:gridCol w="1527048"/>
                <a:gridCol w="1527048"/>
                <a:gridCol w="1527048"/>
                <a:gridCol w="1527048"/>
                <a:gridCol w="1527048"/>
              </a:tblGrid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US Payroll Capability</a:t>
                      </a:r>
                    </a:p>
                  </a:txBody>
                  <a:tcPr marL="45720" marR="36576" marT="18288" marB="18288">
                    <a:solidFill>
                      <a:srgbClr val="0319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Rippling</a:t>
                      </a:r>
                    </a:p>
                  </a:txBody>
                  <a:tcPr marL="45720" marR="36576" marT="18288" marB="18288">
                    <a:solidFill>
                      <a:srgbClr val="0319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Gusto</a:t>
                      </a:r>
                    </a:p>
                  </a:txBody>
                  <a:tcPr marL="45720" marR="36576" marT="18288" marB="18288">
                    <a:solidFill>
                      <a:srgbClr val="0319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 marL="45720" marR="36576" marT="18288" marB="18288">
                    <a:solidFill>
                      <a:srgbClr val="0319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Warp</a:t>
                      </a:r>
                    </a:p>
                  </a:txBody>
                  <a:tcPr marL="45720" marR="36576" marT="18288" marB="18288">
                    <a:solidFill>
                      <a:srgbClr val="0319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Deel</a:t>
                      </a:r>
                    </a:p>
                  </a:txBody>
                  <a:tcPr marL="45720" marR="36576" marT="18288" marB="18288">
                    <a:solidFill>
                      <a:srgbClr val="0319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Justworks</a:t>
                      </a:r>
                    </a:p>
                  </a:txBody>
                  <a:tcPr marL="45720" marR="36576" marT="18288" marB="18288">
                    <a:solidFill>
                      <a:srgbClr val="03192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Multi-State Tax Filing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All 50 states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All 50 states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All 50 states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All 50 states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All 50 states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Via PEO</a:t>
                      </a:r>
                    </a:p>
                  </a:txBody>
                  <a:tcPr marL="45720" marR="36576" marT="18288" marB="18288"/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Tax Engine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Acquired + built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Acquired Symmetry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Built in-house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Built in-house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Acquired + built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PEO partner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Direct Deposit Speed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Same-day option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Next-day / 2-day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Instant (Mercury)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Standard ACH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Standard ACH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Standard ACH</a:t>
                      </a:r>
                    </a:p>
                  </a:txBody>
                  <a:tcPr marL="45720" marR="36576" marT="18288" marB="18288"/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Benefits Admin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Full suite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Own brokerage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Through partners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Through partners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Through partners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PEO group rates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Contractor (1099)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Yes + international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150+ countries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45720" marR="36576" marT="18288" marB="18288"/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Global Payroll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50+ countries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20+ (contractors)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150+ countries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Compliance Depth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Advanced + auto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Strong + AI alerts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Global + US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PEO handles all</a:t>
                      </a:r>
                    </a:p>
                  </a:txBody>
                  <a:tcPr marL="45720" marR="36576" marT="18288" marB="18288"/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API / Embedded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600+ integrations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Embedded API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API available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API available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API available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45720" marR="36576" marT="18288" marB="18288">
                    <a:solidFill>
                      <a:srgbClr val="F0F4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Pricing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$8/emp/mo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$6-12/emp/mo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Free (bundled)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$49/emp/mo</a:t>
                      </a:r>
                    </a:p>
                  </a:txBody>
                  <a:tcPr marL="45720" marR="36576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2D3A45"/>
                          </a:solidFill>
                          <a:latin typeface="Calibri"/>
                        </a:rPr>
                        <a:t>$59-99/emp/mo</a:t>
                      </a:r>
                    </a:p>
                  </a:txBody>
                  <a:tcPr marL="45720" marR="36576" marT="18288" marB="18288"/>
                </a:tc>
              </a:tr>
            </a:tbl>
          </a:graphicData>
        </a:graphic>
      </p:graphicFrame>
      <p:sp>
        <p:nvSpPr>
          <p:cNvPr id="138" name="Rounded Rectangle 137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3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22960" y="4937759"/>
            <a:ext cx="5029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What This Comparison Tells Us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22960" y="5193792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BBBBBB"/>
                </a:solidFill>
                <a:latin typeface="Calibri"/>
              </a:rPr>
              <a:t>Tax filing in all 50 states is a basic requirement - everyone has it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BBBBBB"/>
                </a:solidFill>
                <a:latin typeface="Calibri"/>
              </a:rPr>
              <a:t>Real competition is on benefits, global reach and pricing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BBBBBB"/>
                </a:solidFill>
                <a:latin typeface="Calibri"/>
              </a:rPr>
              <a:t>Direct deposit speed is becoming a selling point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35040" y="5193792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BBBBBB"/>
                </a:solidFill>
                <a:latin typeface="Calibri"/>
              </a:rPr>
              <a:t>Embedded payroll API is the next platform play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BBBBBB"/>
                </a:solidFill>
                <a:latin typeface="Calibri"/>
              </a:rPr>
              <a:t>Nobody excels at everything - there are clear gaps to exploit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BBBBBB"/>
                </a:solidFill>
                <a:latin typeface="Calibri"/>
              </a:rPr>
              <a:t>India-US multi-country payroll is completely unserved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/>
          </a:blip>
          <a:srcRect l="-4904" t="-13282" r="66648" b="-17482"/>
          <a:stretch/>
        </p:blipFill>
        <p:spPr>
          <a:xfrm>
            <a:off x="353633" y="313838"/>
            <a:ext cx="435287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10782301" y="1"/>
            <a:ext cx="1438276" cy="1438276"/>
          </a:xfrm>
          <a:custGeom>
            <a:avLst/>
            <a:gdLst/>
            <a:ahLst/>
            <a:cxnLst/>
            <a:rect l="l" t="t" r="r" b="b"/>
            <a:pathLst>
              <a:path w="1000125" h="1000125" extrusionOk="0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cubicBezTo>
                  <a:pt x="447771" y="1000125"/>
                  <a:pt x="0" y="552354"/>
                  <a:pt x="0" y="0"/>
                </a:cubicBezTo>
                <a:close/>
              </a:path>
            </a:pathLst>
          </a:custGeom>
          <a:solidFill>
            <a:srgbClr val="0085F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-334736" y="6093351"/>
            <a:ext cx="1099352" cy="1099352"/>
          </a:xfrm>
          <a:prstGeom prst="ellipse">
            <a:avLst/>
          </a:prstGeom>
          <a:solidFill>
            <a:srgbClr val="0085FF">
              <a:alpha val="1176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1648515" y="1716832"/>
            <a:ext cx="242610" cy="242610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242847" y="6398121"/>
            <a:ext cx="172068" cy="172068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05840" y="274320"/>
            <a:ext cx="9601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3192E"/>
                </a:solidFill>
                <a:latin typeface="Calibri"/>
              </a:rPr>
              <a:t>What We Need to Build for US Payroll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5840" y="658368"/>
            <a:ext cx="9601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4696C"/>
                </a:solidFill>
                <a:latin typeface="Calibri"/>
              </a:rPr>
              <a:t>Key infrastructure, compliance and partnerships based on how competitors did it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05840" y="914400"/>
            <a:ext cx="9601200" cy="228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0080" y="10972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3192E"/>
                </a:solidFill>
                <a:latin typeface="Calibri"/>
              </a:rPr>
              <a:t>Must-Build Components (Priority Order)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40080" y="1389888"/>
            <a:ext cx="45720" cy="512064"/>
          </a:xfrm>
          <a:prstGeom prst="rect">
            <a:avLst/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68096" y="1389888"/>
            <a:ext cx="490118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3192E"/>
                </a:solidFill>
                <a:latin typeface="Calibri"/>
              </a:rPr>
              <a:t>1. Tax Calculation Engine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68096" y="1572768"/>
            <a:ext cx="4901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C757D"/>
                </a:solidFill>
                <a:latin typeface="Calibri"/>
              </a:rPr>
              <a:t>Calculate federal, state and local taxes for all 50 states. Handle supplemental wages, pre-tax deductions, garnishments. Option: license from Symmetry or Vertex instead of building.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40080" y="1993392"/>
            <a:ext cx="45720" cy="512064"/>
          </a:xfrm>
          <a:prstGeom prst="rect">
            <a:avLst/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68096" y="1993392"/>
            <a:ext cx="490118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3192E"/>
                </a:solidFill>
                <a:latin typeface="Calibri"/>
              </a:rPr>
              <a:t>2. Tax Filing and Payment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8096" y="2176272"/>
            <a:ext cx="4901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C757D"/>
                </a:solidFill>
                <a:latin typeface="Calibri"/>
              </a:rPr>
              <a:t>Register as tax agent in all 50 states (takes 3-6 months). File quarterly 941, annual W-2/1099. Pay taxes to IRS and state agencies on time. We are liable for any errors.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40080" y="2596896"/>
            <a:ext cx="45720" cy="512064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68096" y="2596896"/>
            <a:ext cx="490118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3192E"/>
                </a:solidFill>
                <a:latin typeface="Calibri"/>
              </a:rPr>
              <a:t>3. Direct Deposit (ACH)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8096" y="2779776"/>
            <a:ext cx="4901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C757D"/>
                </a:solidFill>
                <a:latin typeface="Calibri"/>
              </a:rPr>
              <a:t>Partner with Column, Moov or Modern Treasury for ACH processing. Need NACHA certification. Handle payment returns and reversals. Same-day ACH is becoming expected.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" y="3200400"/>
            <a:ext cx="45720" cy="512064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68096" y="3200400"/>
            <a:ext cx="490118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3192E"/>
                </a:solidFill>
                <a:latin typeface="Calibri"/>
              </a:rPr>
              <a:t>4. Multi-State Compliance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68096" y="3383280"/>
            <a:ext cx="4901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C757D"/>
                </a:solidFill>
                <a:latin typeface="Calibri"/>
              </a:rPr>
              <a:t>State reciprocity rules, local tax rules (NYC, SF, Philadelphia etc). Auto-detect when employee moves states. New hire reporting requirements vary by state.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40080" y="3803904"/>
            <a:ext cx="45720" cy="512064"/>
          </a:xfrm>
          <a:prstGeom prst="rect">
            <a:avLst/>
          </a:prstGeom>
          <a:solidFill>
            <a:srgbClr val="008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68096" y="3803904"/>
            <a:ext cx="490118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3192E"/>
                </a:solidFill>
                <a:latin typeface="Calibri"/>
              </a:rPr>
              <a:t>5. Benefits Integration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8096" y="3986784"/>
            <a:ext cx="4901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C757D"/>
                </a:solidFill>
                <a:latin typeface="Calibri"/>
              </a:rPr>
              <a:t>Health insurance, 401k, HSA/FSA, workers comp. Partner with existing brokers first (SimplyInsured, Vestwell). Benefits deductions feed directly into payroll calculations.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40080" y="4407408"/>
            <a:ext cx="45720" cy="512064"/>
          </a:xfrm>
          <a:prstGeom prst="rect">
            <a:avLst/>
          </a:prstGeom>
          <a:solidFill>
            <a:srgbClr val="008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68096" y="4407408"/>
            <a:ext cx="490118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3192E"/>
                </a:solidFill>
                <a:latin typeface="Calibri"/>
              </a:rPr>
              <a:t>6. Year-End Processing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8096" y="4590288"/>
            <a:ext cx="49011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C757D"/>
                </a:solidFill>
                <a:latin typeface="Calibri"/>
              </a:rPr>
              <a:t>W-2 for employees, 1099-NEC for contractors, ACA 1095-C reports. Corrections handling (W-2c). IRS has strict deadlines with zero tolerance.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035040" y="1097280"/>
            <a:ext cx="5394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3192E"/>
                </a:solidFill>
                <a:latin typeface="Calibri"/>
              </a:rPr>
              <a:t>Priority and Complexity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035040" y="1389888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D7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126479" y="1426464"/>
            <a:ext cx="15544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3192E"/>
                </a:solidFill>
                <a:latin typeface="Calibri"/>
              </a:rPr>
              <a:t>Tax Engine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0469880" y="1426464"/>
            <a:ext cx="822960" cy="164592"/>
          </a:xfrm>
          <a:prstGeom prst="roundRect">
            <a:avLst>
              <a:gd name="adj" fmla="val 6000"/>
            </a:avLst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506455" y="1426464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MUST HAVE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126479" y="1618488"/>
            <a:ext cx="5212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License Symmetry/Vertex or build. Every rupee must be accurate.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035040" y="1920240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D7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26479" y="1956816"/>
            <a:ext cx="15544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3192E"/>
                </a:solidFill>
                <a:latin typeface="Calibri"/>
              </a:rPr>
              <a:t>Tax Filing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0469880" y="1956816"/>
            <a:ext cx="822960" cy="164592"/>
          </a:xfrm>
          <a:prstGeom prst="roundRect">
            <a:avLst>
              <a:gd name="adj" fmla="val 6000"/>
            </a:avLst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506455" y="1956816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MUST HAVE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126479" y="2148840"/>
            <a:ext cx="5212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Register in all 50 states. Start 6 months before launch date.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035040" y="2450592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D7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126479" y="2487168"/>
            <a:ext cx="15544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3192E"/>
                </a:solidFill>
                <a:latin typeface="Calibri"/>
              </a:rPr>
              <a:t>ACH Payments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469880" y="2487168"/>
            <a:ext cx="822960" cy="164592"/>
          </a:xfrm>
          <a:prstGeom prst="roundRect">
            <a:avLst>
              <a:gd name="adj" fmla="val 6000"/>
            </a:avLst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506455" y="2487168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MUST HAVE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126479" y="2679192"/>
            <a:ext cx="5212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Partner with Column or Moov. Do not build banking infra ourselves.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035040" y="2980944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126479" y="3017520"/>
            <a:ext cx="15544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3192E"/>
                </a:solidFill>
                <a:latin typeface="Calibri"/>
              </a:rPr>
              <a:t>State Compliance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0469880" y="3017520"/>
            <a:ext cx="822960" cy="164592"/>
          </a:xfrm>
          <a:prstGeom prst="roundRect">
            <a:avLst>
              <a:gd name="adj" fmla="val 6000"/>
            </a:avLst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506455" y="3017520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126479" y="3209544"/>
            <a:ext cx="5212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Garnishments, minimum wage, overtime, sick leave rules per state.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035040" y="3511296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126479" y="3547872"/>
            <a:ext cx="15544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3192E"/>
                </a:solidFill>
                <a:latin typeface="Calibri"/>
              </a:rPr>
              <a:t>Benefits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0469880" y="3547872"/>
            <a:ext cx="822960" cy="164592"/>
          </a:xfrm>
          <a:prstGeom prst="roundRect">
            <a:avLst>
              <a:gd name="adj" fmla="val 6000"/>
            </a:avLst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506455" y="354787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126479" y="3739896"/>
            <a:ext cx="5212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Partner first with existing brokers. Build own brokerage later.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6035040" y="4041648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8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126479" y="4078224"/>
            <a:ext cx="15544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3192E"/>
                </a:solidFill>
                <a:latin typeface="Calibri"/>
              </a:rPr>
              <a:t>Onboarding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0469880" y="4078224"/>
            <a:ext cx="822960" cy="164592"/>
          </a:xfrm>
          <a:prstGeom prst="roundRect">
            <a:avLst>
              <a:gd name="adj" fmla="val 6000"/>
            </a:avLst>
          </a:prstGeom>
          <a:solidFill>
            <a:srgbClr val="008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506455" y="4078224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126479" y="4270248"/>
            <a:ext cx="5212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I-9, W-4, state tax forms, offer letters. Required for good UX.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035040" y="4572000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8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126479" y="4608576"/>
            <a:ext cx="15544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3192E"/>
                </a:solidFill>
                <a:latin typeface="Calibri"/>
              </a:rPr>
              <a:t>Contractor 1099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0469880" y="4608576"/>
            <a:ext cx="822960" cy="164592"/>
          </a:xfrm>
          <a:prstGeom prst="roundRect">
            <a:avLst>
              <a:gd name="adj" fmla="val 6000"/>
            </a:avLst>
          </a:prstGeom>
          <a:solidFill>
            <a:srgbClr val="008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506455" y="4608576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126479" y="4800600"/>
            <a:ext cx="5212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Simpler than W-2 payroll. 1099-NEC filing and payments.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6035040" y="5102352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126479" y="5138928"/>
            <a:ext cx="15544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3192E"/>
                </a:solidFill>
                <a:latin typeface="Calibri"/>
              </a:rPr>
              <a:t>Embedded API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0469880" y="5138928"/>
            <a:ext cx="822960" cy="164592"/>
          </a:xfrm>
          <a:prstGeom prst="roundRect">
            <a:avLst>
              <a:gd name="adj" fmla="val 6000"/>
            </a:avLst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0506455" y="5138928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126479" y="5330952"/>
            <a:ext cx="5212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Let other platforms sell our payroll. Good revenue channel.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6035040" y="5632704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46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126479" y="5669280"/>
            <a:ext cx="15544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3192E"/>
                </a:solidFill>
                <a:latin typeface="Calibri"/>
              </a:rPr>
              <a:t>Global Payroll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10469880" y="5669280"/>
            <a:ext cx="822960" cy="164592"/>
          </a:xfrm>
          <a:prstGeom prst="roundRect">
            <a:avLst>
              <a:gd name="adj" fmla="val 6000"/>
            </a:avLst>
          </a:prstGeom>
          <a:solidFill>
            <a:srgbClr val="64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506455" y="5669280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126479" y="5861304"/>
            <a:ext cx="5212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C757D"/>
                </a:solidFill>
                <a:latin typeface="Calibri"/>
              </a:rPr>
              <a:t>Use EOR partnerships for international. Do not build on day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/>
          </a:blip>
          <a:srcRect l="-4904" t="-13282" r="66648" b="-17482"/>
          <a:stretch/>
        </p:blipFill>
        <p:spPr>
          <a:xfrm>
            <a:off x="353633" y="313838"/>
            <a:ext cx="435287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10782301" y="1"/>
            <a:ext cx="1438276" cy="1438276"/>
          </a:xfrm>
          <a:custGeom>
            <a:avLst/>
            <a:gdLst/>
            <a:ahLst/>
            <a:cxnLst/>
            <a:rect l="l" t="t" r="r" b="b"/>
            <a:pathLst>
              <a:path w="1000125" h="1000125" extrusionOk="0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cubicBezTo>
                  <a:pt x="447771" y="1000125"/>
                  <a:pt x="0" y="552354"/>
                  <a:pt x="0" y="0"/>
                </a:cubicBezTo>
                <a:close/>
              </a:path>
            </a:pathLst>
          </a:custGeom>
          <a:solidFill>
            <a:srgbClr val="0085F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-334736" y="6093351"/>
            <a:ext cx="1099352" cy="1099352"/>
          </a:xfrm>
          <a:prstGeom prst="ellipse">
            <a:avLst/>
          </a:prstGeom>
          <a:solidFill>
            <a:srgbClr val="0085FF">
              <a:alpha val="1176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1648515" y="1716832"/>
            <a:ext cx="242610" cy="242610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242847" y="6398121"/>
            <a:ext cx="172068" cy="172068"/>
          </a:xfrm>
          <a:prstGeom prst="ellipse">
            <a:avLst/>
          </a:prstGeom>
          <a:solidFill>
            <a:srgbClr val="0085FF">
              <a:alpha val="2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05840" y="274320"/>
            <a:ext cx="9601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3192E"/>
                </a:solidFill>
                <a:latin typeface="Calibri"/>
              </a:rPr>
              <a:t>Our Plan to Enter US Payroll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5840" y="658368"/>
            <a:ext cx="9601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4696C"/>
                </a:solidFill>
                <a:latin typeface="Calibri"/>
              </a:rPr>
              <a:t>Phased approach using our India strengths and existing HRMS platform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05840" y="914400"/>
            <a:ext cx="9601200" cy="228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0080" y="10972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3192E"/>
                </a:solidFill>
                <a:latin typeface="Calibri"/>
              </a:rPr>
              <a:t>Phased Roadmap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40080" y="1389888"/>
            <a:ext cx="50292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77240" y="146304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6C5CE7"/>
                </a:solidFill>
                <a:latin typeface="Calibri"/>
              </a:rPr>
              <a:t>Phase 1: India-US Corridor  (0-12 months)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77240" y="1709928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Target our existing customers who have US subsidiaries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Build core US payroll: tax calculation, ACH, W-2/1099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Our advantage: dual-country payroll nobody else does well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Price at $10-15 per employee (30-50% below Rippling/Gusto)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40080" y="2852928"/>
            <a:ext cx="50292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77240" y="292608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B894"/>
                </a:solidFill>
                <a:latin typeface="Calibri"/>
              </a:rPr>
              <a:t>Phase 2: US Startup Market  (12-24 months)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77240" y="3172968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Open to general US startups and SMBs (1 to 200 employees)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Add benefits administration, time tracking, hiring tools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Build accountant partnerships and embedded payroll API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Compete on price + multi-country payroll (India, US, UAE, SEA)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40080" y="4315968"/>
            <a:ext cx="50292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77240" y="438912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A502"/>
                </a:solidFill>
                <a:latin typeface="Calibri"/>
              </a:rPr>
              <a:t>Phase 3: Mid-Market Push  (24-36 months)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77240" y="4636008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Target mid-market companies (200-1000 employees)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Add advanced compliance, custom reporting, EOR partnerships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Position as the only platform doing India + US + SEA natively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800">
                <a:solidFill>
                  <a:srgbClr val="2D3A45"/>
                </a:solidFill>
                <a:latin typeface="Calibri"/>
              </a:rPr>
              <a:t>Fill the gap between Gusto (tops at 200) and ADP/Workday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035040" y="1097280"/>
            <a:ext cx="5394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3192E"/>
                </a:solidFill>
                <a:latin typeface="Calibri"/>
              </a:rPr>
              <a:t>Why We Can Win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035040" y="1389888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053327" y="1481328"/>
            <a:ext cx="36576" cy="5303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181344" y="1444752"/>
            <a:ext cx="513892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6C5CE7"/>
                </a:solidFill>
                <a:latin typeface="Calibri"/>
              </a:rPr>
              <a:t>India-US Corridor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81344" y="1664208"/>
            <a:ext cx="513892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10,000+ Indian companies have US operations. No payroll provider serves this well today.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035040" y="2185416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53327" y="2276856"/>
            <a:ext cx="36576" cy="5303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181344" y="2240280"/>
            <a:ext cx="513892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0B894"/>
                </a:solidFill>
                <a:latin typeface="Calibri"/>
              </a:rPr>
              <a:t>Cost Advantage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181344" y="2459736"/>
            <a:ext cx="513892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Our India-based engineering gives us 60-70% lower development cost. We pass this saving to customers.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035040" y="2980944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8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053327" y="3072384"/>
            <a:ext cx="36576" cy="530352"/>
          </a:xfrm>
          <a:prstGeom prst="rect">
            <a:avLst/>
          </a:prstGeom>
          <a:solidFill>
            <a:srgbClr val="008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181344" y="3035808"/>
            <a:ext cx="513892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084D6"/>
                </a:solidFill>
                <a:latin typeface="Calibri"/>
              </a:rPr>
              <a:t>Existing HRMS Platform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181344" y="3255264"/>
            <a:ext cx="513892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We already have HR, Leave, Attendance, Performance modules. Adding payroll makes us all-in-one.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035040" y="3776472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053327" y="3867911"/>
            <a:ext cx="36576" cy="530352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181344" y="3831335"/>
            <a:ext cx="513892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A502"/>
                </a:solidFill>
                <a:latin typeface="Calibri"/>
              </a:rPr>
              <a:t>Multi-Country Experience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181344" y="4050791"/>
            <a:ext cx="513892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Our India payroll compliance knowledge (PF, ESI, TDS) gives us a framework for US compliance.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035040" y="4572000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D79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053327" y="4663440"/>
            <a:ext cx="36576" cy="530352"/>
          </a:xfrm>
          <a:prstGeom prst="rect">
            <a:avLst/>
          </a:prstGeom>
          <a:solidFill>
            <a:srgbClr val="FD7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181344" y="4626864"/>
            <a:ext cx="513892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D7972"/>
                </a:solidFill>
                <a:latin typeface="Calibri"/>
              </a:rPr>
              <a:t>Speed to Market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181344" y="4846320"/>
            <a:ext cx="513892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License tax engine (Symmetry), partner for benefits. We do not need to build everything ourselves.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035040" y="5440680"/>
            <a:ext cx="5394960" cy="731520"/>
          </a:xfrm>
          <a:prstGeom prst="roundRect">
            <a:avLst>
              <a:gd name="adj" fmla="val 6000"/>
            </a:avLst>
          </a:prstGeom>
          <a:solidFill>
            <a:srgbClr val="03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72200" y="5513832"/>
            <a:ext cx="5120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24-Month Target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172200" y="5733288"/>
            <a:ext cx="5120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BBBBB"/>
                </a:solidFill>
                <a:latin typeface="Calibri"/>
              </a:rPr>
              <a:t>500+ companies  |  10,000+ employees  |  $5M ARR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172200" y="5934456"/>
            <a:ext cx="51206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6C5CE7"/>
                </a:solidFill>
                <a:latin typeface="Calibri"/>
              </a:rPr>
              <a:t>First mover in India-US payroll corridor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3"/>
          <p:cNvSpPr/>
          <p:nvPr/>
        </p:nvSpPr>
        <p:spPr>
          <a:xfrm>
            <a:off x="0" y="1301176"/>
            <a:ext cx="12192000" cy="3422724"/>
          </a:xfrm>
          <a:prstGeom prst="rect">
            <a:avLst/>
          </a:prstGeom>
          <a:solidFill>
            <a:srgbClr val="228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422" y="267025"/>
            <a:ext cx="1743696" cy="50629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 txBox="1"/>
          <p:nvPr/>
        </p:nvSpPr>
        <p:spPr>
          <a:xfrm>
            <a:off x="827073" y="1683481"/>
            <a:ext cx="5199464" cy="279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IN" sz="4000" b="0" i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Made with Love</a:t>
            </a:r>
            <a:br>
              <a:rPr lang="en-I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IN" sz="4000" b="0" i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IN" sz="4000" i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India</a:t>
            </a:r>
            <a:r>
              <a:rPr lang="en-IN" sz="4000" b="0" i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br>
              <a:rPr lang="en-I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000" b="0" i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the </a:t>
            </a:r>
            <a:r>
              <a:rPr lang="en-IN" sz="4000" b="0" i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World</a:t>
            </a:r>
            <a:endParaRPr sz="7200" b="0" i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2" name="Google Shape;142;p3"/>
          <p:cNvGrpSpPr/>
          <p:nvPr/>
        </p:nvGrpSpPr>
        <p:grpSpPr>
          <a:xfrm>
            <a:off x="5226437" y="6234504"/>
            <a:ext cx="1569720" cy="431800"/>
            <a:chOff x="5337256" y="4343705"/>
            <a:chExt cx="1569720" cy="431800"/>
          </a:xfrm>
        </p:grpSpPr>
        <p:pic>
          <p:nvPicPr>
            <p:cNvPr id="143" name="Google Shape;143;p3" descr="C:\Users\Administrator\Downloads\Frame 5410.pngFrame 5410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l="51778" r="24848"/>
            <a:stretch/>
          </p:blipFill>
          <p:spPr>
            <a:xfrm>
              <a:off x="6137356" y="4386885"/>
              <a:ext cx="392430" cy="345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3" descr="C:\Users\Administrator\Downloads\Frame 5410.pngFrame 5410">
              <a:hlinkClick r:id="rId6"/>
            </p:cNvPr>
            <p:cNvPicPr preferRelativeResize="0"/>
            <p:nvPr/>
          </p:nvPicPr>
          <p:blipFill rotWithShape="1">
            <a:blip r:embed="rId5">
              <a:alphaModFix/>
            </a:blip>
            <a:srcRect r="78933"/>
            <a:stretch/>
          </p:blipFill>
          <p:spPr>
            <a:xfrm>
              <a:off x="5337256" y="4386885"/>
              <a:ext cx="353695" cy="345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3" descr="C:\Users\Administrator\Downloads\Ellipse 325.pngEllipse 325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t="-9854" b="-12003"/>
            <a:stretch/>
          </p:blipFill>
          <p:spPr>
            <a:xfrm>
              <a:off x="5751911" y="4343705"/>
              <a:ext cx="353695" cy="431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3" descr="C:\Users\Administrator\Downloads\Frame 5410.pngFrame 5410">
              <a:hlinkClick r:id="rId9"/>
            </p:cNvPr>
            <p:cNvPicPr preferRelativeResize="0"/>
            <p:nvPr/>
          </p:nvPicPr>
          <p:blipFill rotWithShape="1">
            <a:blip r:embed="rId5">
              <a:alphaModFix/>
            </a:blip>
            <a:srcRect l="79425" t="-12500"/>
            <a:stretch/>
          </p:blipFill>
          <p:spPr>
            <a:xfrm>
              <a:off x="6561536" y="4343705"/>
              <a:ext cx="345440" cy="3886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3"/>
          <p:cNvGrpSpPr/>
          <p:nvPr/>
        </p:nvGrpSpPr>
        <p:grpSpPr>
          <a:xfrm>
            <a:off x="-34335" y="4920839"/>
            <a:ext cx="12226335" cy="1150237"/>
            <a:chOff x="-34335" y="4384596"/>
            <a:chExt cx="12226335" cy="1150237"/>
          </a:xfrm>
        </p:grpSpPr>
        <p:sp>
          <p:nvSpPr>
            <p:cNvPr id="148" name="Google Shape;148;p3"/>
            <p:cNvSpPr/>
            <p:nvPr/>
          </p:nvSpPr>
          <p:spPr>
            <a:xfrm>
              <a:off x="-34335" y="4789004"/>
              <a:ext cx="12226335" cy="745829"/>
            </a:xfrm>
            <a:prstGeom prst="rect">
              <a:avLst/>
            </a:prstGeom>
            <a:solidFill>
              <a:srgbClr val="0B2E4D">
                <a:alpha val="392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"/>
            <p:cNvSpPr txBox="1"/>
            <p:nvPr/>
          </p:nvSpPr>
          <p:spPr>
            <a:xfrm>
              <a:off x="4453085" y="4384596"/>
              <a:ext cx="39317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0B2E4D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To know more, please visit or  write us at:</a:t>
              </a:r>
              <a:endParaRPr/>
            </a:p>
          </p:txBody>
        </p:sp>
        <p:grpSp>
          <p:nvGrpSpPr>
            <p:cNvPr id="150" name="Google Shape;150;p3"/>
            <p:cNvGrpSpPr/>
            <p:nvPr/>
          </p:nvGrpSpPr>
          <p:grpSpPr>
            <a:xfrm>
              <a:off x="273489" y="4914391"/>
              <a:ext cx="11614177" cy="480900"/>
              <a:chOff x="61224" y="1320374"/>
              <a:chExt cx="11614177" cy="480900"/>
            </a:xfrm>
          </p:grpSpPr>
          <p:sp>
            <p:nvSpPr>
              <p:cNvPr id="151" name="Google Shape;151;p3"/>
              <p:cNvSpPr/>
              <p:nvPr/>
            </p:nvSpPr>
            <p:spPr>
              <a:xfrm>
                <a:off x="61224" y="1320676"/>
                <a:ext cx="478486" cy="478486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rgbClr val="00CD3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 txBox="1"/>
              <p:nvPr/>
            </p:nvSpPr>
            <p:spPr>
              <a:xfrm>
                <a:off x="602867" y="1359088"/>
                <a:ext cx="1781810" cy="3462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B2E4D"/>
                  </a:buClr>
                  <a:buSzPts val="1200"/>
                  <a:buFont typeface="Poppins"/>
                  <a:buNone/>
                </a:pPr>
                <a:r>
                  <a:rPr lang="en-IN" sz="1200">
                    <a:solidFill>
                      <a:srgbClr val="0B2E4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(+91) 9311 7763 63</a:t>
                </a:r>
                <a:endParaRPr/>
              </a:p>
            </p:txBody>
          </p:sp>
          <p:sp>
            <p:nvSpPr>
              <p:cNvPr id="153" name="Google Shape;153;p3"/>
              <p:cNvSpPr txBox="1"/>
              <p:nvPr/>
            </p:nvSpPr>
            <p:spPr>
              <a:xfrm>
                <a:off x="5137316" y="1347279"/>
                <a:ext cx="159766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B2E4D"/>
                  </a:buClr>
                  <a:buSzPts val="1200"/>
                  <a:buFont typeface="Poppins"/>
                  <a:buNone/>
                </a:pPr>
                <a:r>
                  <a:rPr lang="en-IN" sz="1200" u="sng">
                    <a:solidFill>
                      <a:srgbClr val="0B2E4D"/>
                    </a:solidFill>
                    <a:latin typeface="Poppins"/>
                    <a:ea typeface="Poppins"/>
                    <a:cs typeface="Poppins"/>
                    <a:sym typeface="Poppins"/>
                    <a:hlinkClick r:id="rId10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sales@zimyo.com </a:t>
                </a:r>
                <a:endParaRPr sz="1200" u="sng">
                  <a:solidFill>
                    <a:srgbClr val="0B2E4D"/>
                  </a:solidFill>
                  <a:latin typeface="Poppins"/>
                  <a:ea typeface="Poppins"/>
                  <a:cs typeface="Poppins"/>
                  <a:sym typeface="Poppins"/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endParaRPr>
              </a:p>
            </p:txBody>
          </p:sp>
          <p:sp>
            <p:nvSpPr>
              <p:cNvPr id="154" name="Google Shape;154;p3"/>
              <p:cNvSpPr txBox="1"/>
              <p:nvPr/>
            </p:nvSpPr>
            <p:spPr>
              <a:xfrm>
                <a:off x="10245381" y="1353448"/>
                <a:ext cx="143002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B2E4D"/>
                  </a:buClr>
                  <a:buSzPts val="1200"/>
                  <a:buFont typeface="Poppins"/>
                  <a:buNone/>
                </a:pPr>
                <a:r>
                  <a:rPr lang="en-IN" sz="1200" u="sng">
                    <a:solidFill>
                      <a:srgbClr val="0B2E4D"/>
                    </a:solid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www.zimyo.com</a:t>
                </a:r>
                <a:endParaRPr sz="1200">
                  <a:solidFill>
                    <a:srgbClr val="0B2E4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9766896" y="1320374"/>
                <a:ext cx="478486" cy="478486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rgbClr val="DE503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4618106" y="1322788"/>
                <a:ext cx="478486" cy="478486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rgbClr val="F5CE4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57" name="Google Shape;157;p3" descr="A yellow and black envelope&#10;&#10;Description automatically generated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901191" y="5034311"/>
              <a:ext cx="336845" cy="2370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3" descr="A logo of a globe&#10;&#10;Description automatically generated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0050869" y="4989647"/>
              <a:ext cx="335070" cy="326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3" descr="A green telephone handset on a black background&#10;&#10;Description automatically generated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364275" y="5006309"/>
              <a:ext cx="293045" cy="2930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0" name="Google Shape;160;p3" descr="A map of the world&#10;&#10;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06489" y="1317744"/>
            <a:ext cx="7485511" cy="342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77</Words>
  <Application>Microsoft Office PowerPoint</Application>
  <PresentationFormat>Widescreen</PresentationFormat>
  <Paragraphs>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Arial</vt:lpstr>
      <vt:lpstr>Roboto</vt:lpstr>
      <vt:lpstr>Poppins</vt:lpstr>
      <vt:lpstr>Montserrat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Zimyo Marketing</dc:creator>
  <cp:lastModifiedBy>Tarun Rai</cp:lastModifiedBy>
  <cp:revision>2</cp:revision>
  <dcterms:created xsi:type="dcterms:W3CDTF">2023-09-27T05:25:13Z</dcterms:created>
  <dcterms:modified xsi:type="dcterms:W3CDTF">2024-06-25T10:34:00Z</dcterms:modified>
</cp:coreProperties>
</file>